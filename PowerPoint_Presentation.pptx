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93" r:id="rId2"/>
    <p:sldId id="299" r:id="rId3"/>
    <p:sldId id="292" r:id="rId4"/>
    <p:sldId id="272" r:id="rId5"/>
    <p:sldId id="290" r:id="rId6"/>
    <p:sldId id="291" r:id="rId7"/>
    <p:sldId id="294" r:id="rId8"/>
    <p:sldId id="295" r:id="rId9"/>
    <p:sldId id="265" r:id="rId10"/>
    <p:sldId id="297" r:id="rId11"/>
    <p:sldId id="279" r:id="rId12"/>
    <p:sldId id="298" r:id="rId13"/>
    <p:sldId id="286" r:id="rId14"/>
    <p:sldId id="287" r:id="rId15"/>
    <p:sldId id="256" r:id="rId16"/>
    <p:sldId id="271" r:id="rId17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564" autoAdjust="0"/>
    <p:restoredTop sz="94610"/>
  </p:normalViewPr>
  <p:slideViewPr>
    <p:cSldViewPr snapToGrid="0" snapToObjects="1">
      <p:cViewPr varScale="1">
        <p:scale>
          <a:sx n="55" d="100"/>
          <a:sy n="55" d="100"/>
        </p:scale>
        <p:origin x="576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90957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5387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7156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20" b="0" i="0">
                <a:solidFill>
                  <a:srgbClr val="004F4A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78950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Falak connects India with its various flavours ...">
            <a:extLst>
              <a:ext uri="{FF2B5EF4-FFF2-40B4-BE49-F238E27FC236}">
                <a16:creationId xmlns:a16="http://schemas.microsoft.com/office/drawing/2014/main" id="{A9462515-EC54-4CEA-B0EE-6F33A72B11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97" y="87696"/>
            <a:ext cx="7886623" cy="805420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2C46809-4E19-4FE0-BF0F-50D390790C3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399" t="5679" r="1975" b="6614"/>
          <a:stretch/>
        </p:blipFill>
        <p:spPr>
          <a:xfrm>
            <a:off x="8210715" y="175393"/>
            <a:ext cx="5868366" cy="1712821"/>
          </a:xfrm>
          <a:prstGeom prst="rect">
            <a:avLst/>
          </a:prstGeom>
        </p:spPr>
      </p:pic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76A99973-600E-48E1-AB9C-02BE75DDE84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-2743" t="42475" r="1"/>
          <a:stretch/>
        </p:blipFill>
        <p:spPr>
          <a:xfrm>
            <a:off x="8210715" y="1879351"/>
            <a:ext cx="5636871" cy="473404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75C04F9-F9F2-424C-8E19-F9AE145CF22C}"/>
              </a:ext>
            </a:extLst>
          </p:cNvPr>
          <p:cNvSpPr txBox="1"/>
          <p:nvPr/>
        </p:nvSpPr>
        <p:spPr>
          <a:xfrm>
            <a:off x="8147054" y="2788080"/>
            <a:ext cx="576419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DATA </a:t>
            </a:r>
          </a:p>
          <a:p>
            <a:pPr algn="ctr"/>
            <a:r>
              <a:rPr lang="en-IN" sz="4800" b="1" dirty="0">
                <a:latin typeface="Arial Black" panose="020B0A04020102020204" pitchFamily="34" charset="0"/>
              </a:rPr>
              <a:t>ON MENU</a:t>
            </a:r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CE3F938C-4912-49A7-BCA0-3DED139F14A7}"/>
              </a:ext>
            </a:extLst>
          </p:cNvPr>
          <p:cNvSpPr/>
          <p:nvPr/>
        </p:nvSpPr>
        <p:spPr>
          <a:xfrm>
            <a:off x="8256296" y="4433561"/>
            <a:ext cx="6116911" cy="2199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3600" dirty="0">
                <a:latin typeface="Algerian" panose="04020705040A02060702" pitchFamily="82" charset="0"/>
              </a:rPr>
              <a:t>A Data-Driven Journey into Restaurant Trends with </a:t>
            </a:r>
            <a:r>
              <a:rPr lang="en-US" sz="3600" dirty="0" err="1">
                <a:latin typeface="Algerian" panose="04020705040A02060702" pitchFamily="82" charset="0"/>
              </a:rPr>
              <a:t>EazyDiner</a:t>
            </a:r>
            <a:endParaRPr lang="en-US" sz="3600" dirty="0">
              <a:latin typeface="Algerian" panose="04020705040A02060702" pitchFamily="8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D813FE-FCA4-420D-948E-64A9071E7B24}"/>
              </a:ext>
            </a:extLst>
          </p:cNvPr>
          <p:cNvSpPr txBox="1"/>
          <p:nvPr/>
        </p:nvSpPr>
        <p:spPr>
          <a:xfrm>
            <a:off x="11865192" y="7290939"/>
            <a:ext cx="22311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lgerian" panose="04020705040A02060702" pitchFamily="82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US" sz="2000" dirty="0">
                <a:latin typeface="Algerian" panose="04020705040A02060702" pitchFamily="82" charset="0"/>
                <a:cs typeface="Times New Roman" panose="02020603050405020304" pitchFamily="18" charset="0"/>
              </a:rPr>
              <a:t>Komal Galave</a:t>
            </a:r>
            <a:endParaRPr lang="en-IN" sz="2000" dirty="0">
              <a:latin typeface="Algerian" panose="04020705040A02060702" pitchFamily="82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37719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CBD4CEF-07A6-49F0-A26D-4033806D9759}"/>
              </a:ext>
            </a:extLst>
          </p:cNvPr>
          <p:cNvSpPr/>
          <p:nvPr/>
        </p:nvSpPr>
        <p:spPr>
          <a:xfrm>
            <a:off x="2258854" y="478870"/>
            <a:ext cx="8828246" cy="844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Arial Black" panose="020B0A04020102020204" pitchFamily="34" charset="0"/>
                <a:ea typeface="Inter Bold" pitchFamily="34" charset="-122"/>
              </a:rPr>
              <a:t>INDEX</a:t>
            </a:r>
            <a:endParaRPr lang="en-US" sz="4400" dirty="0">
              <a:latin typeface="Arial Black" panose="020B0A04020102020204" pitchFamily="34" charset="0"/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5096FEF2-1B44-4271-938D-346109D015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55479" y="7590207"/>
            <a:ext cx="2019404" cy="425472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407A8DFF-2CE6-435F-868F-F325C8F58A13}"/>
              </a:ext>
            </a:extLst>
          </p:cNvPr>
          <p:cNvSpPr txBox="1"/>
          <p:nvPr/>
        </p:nvSpPr>
        <p:spPr>
          <a:xfrm>
            <a:off x="2831487" y="4859968"/>
            <a:ext cx="7315200" cy="605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ts val="47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rial Black" panose="020B0A04020102020204" pitchFamily="34" charset="0"/>
                <a:ea typeface="Inter Bold" pitchFamily="34" charset="-122"/>
                <a:cs typeface="Inter Bold" pitchFamily="34" charset="-120"/>
              </a:rPr>
              <a:t>Data Collection </a:t>
            </a:r>
            <a:endParaRPr lang="en-US" sz="1800" dirty="0">
              <a:latin typeface="Arial Black" panose="020B0A04020102020204" pitchFamily="34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B4A0F56-2A06-4E4A-8DA2-A93ACD7CC778}"/>
              </a:ext>
            </a:extLst>
          </p:cNvPr>
          <p:cNvSpPr txBox="1"/>
          <p:nvPr/>
        </p:nvSpPr>
        <p:spPr>
          <a:xfrm>
            <a:off x="2631823" y="5881020"/>
            <a:ext cx="7749250" cy="69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ts val="5550"/>
              </a:lnSpc>
              <a:buNone/>
            </a:pPr>
            <a:r>
              <a:rPr lang="en-IN" sz="1800" dirty="0">
                <a:latin typeface="Arial Black" panose="020B0A04020102020204" pitchFamily="34" charset="0"/>
              </a:rPr>
              <a:t>Insights</a:t>
            </a:r>
            <a:endParaRPr lang="en-US" sz="1800" dirty="0">
              <a:latin typeface="Arial Black" panose="020B0A04020102020204" pitchFamily="34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AB8B7F2-3BBA-44B7-8DF5-11EE6CE723BE}"/>
              </a:ext>
            </a:extLst>
          </p:cNvPr>
          <p:cNvSpPr txBox="1"/>
          <p:nvPr/>
        </p:nvSpPr>
        <p:spPr>
          <a:xfrm>
            <a:off x="2809411" y="7340016"/>
            <a:ext cx="74483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Arial Black" panose="020B0A04020102020204" pitchFamily="34" charset="0"/>
              </a:rPr>
              <a:t>Conclusion</a:t>
            </a:r>
            <a:endParaRPr lang="en-IN" sz="1800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6276FFD-76DF-4946-8BBE-B81243A644DB}"/>
              </a:ext>
            </a:extLst>
          </p:cNvPr>
          <p:cNvGrpSpPr/>
          <p:nvPr/>
        </p:nvGrpSpPr>
        <p:grpSpPr>
          <a:xfrm>
            <a:off x="3394711" y="1202952"/>
            <a:ext cx="6602541" cy="5942058"/>
            <a:chOff x="414202" y="1072382"/>
            <a:chExt cx="6602541" cy="5942058"/>
          </a:xfrm>
        </p:grpSpPr>
        <p:sp>
          <p:nvSpPr>
            <p:cNvPr id="7" name="Text 5">
              <a:extLst>
                <a:ext uri="{FF2B5EF4-FFF2-40B4-BE49-F238E27FC236}">
                  <a16:creationId xmlns:a16="http://schemas.microsoft.com/office/drawing/2014/main" id="{E8921E15-919D-4642-8FC6-7053AC150F8A}"/>
                </a:ext>
              </a:extLst>
            </p:cNvPr>
            <p:cNvSpPr/>
            <p:nvPr/>
          </p:nvSpPr>
          <p:spPr>
            <a:xfrm>
              <a:off x="687295" y="1423030"/>
              <a:ext cx="5233156" cy="57646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>
                <a:lnSpc>
                  <a:spcPts val="5550"/>
                </a:lnSpc>
              </a:pPr>
              <a:r>
                <a:rPr lang="en-US" sz="2000" b="1" dirty="0">
                  <a:solidFill>
                    <a:srgbClr val="000000"/>
                  </a:solidFill>
                  <a:latin typeface="Arial Black" panose="020B0A04020102020204" pitchFamily="34" charset="0"/>
                  <a:ea typeface="Inter Bold" pitchFamily="34" charset="-122"/>
                  <a:cs typeface="Inter Bold" pitchFamily="34" charset="-120"/>
                </a:rPr>
                <a:t>Introduction</a:t>
              </a:r>
              <a:endParaRPr lang="en-US" sz="2000" dirty="0">
                <a:latin typeface="Arial Black" panose="020B0A04020102020204" pitchFamily="34" charset="0"/>
              </a:endParaRPr>
            </a:p>
          </p:txBody>
        </p:sp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FEA1F133-C8F6-48D7-8DE9-A716D5E052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4203" y="1229991"/>
              <a:ext cx="6602540" cy="60965"/>
            </a:xfrm>
            <a:prstGeom prst="rect">
              <a:avLst/>
            </a:prstGeom>
          </p:spPr>
        </p:pic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2093C35A-4076-4214-8951-9126F9F2364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4203" y="2358566"/>
              <a:ext cx="6602540" cy="60965"/>
            </a:xfrm>
            <a:prstGeom prst="rect">
              <a:avLst/>
            </a:prstGeom>
          </p:spPr>
        </p:pic>
        <p:sp>
          <p:nvSpPr>
            <p:cNvPr id="37" name="Shape 2">
              <a:extLst>
                <a:ext uri="{FF2B5EF4-FFF2-40B4-BE49-F238E27FC236}">
                  <a16:creationId xmlns:a16="http://schemas.microsoft.com/office/drawing/2014/main" id="{96414791-BE2E-4165-86C1-0DEDD0515489}"/>
                </a:ext>
              </a:extLst>
            </p:cNvPr>
            <p:cNvSpPr/>
            <p:nvPr/>
          </p:nvSpPr>
          <p:spPr>
            <a:xfrm>
              <a:off x="415918" y="3455194"/>
              <a:ext cx="6600825" cy="60960"/>
            </a:xfrm>
            <a:prstGeom prst="roundRect">
              <a:avLst>
                <a:gd name="adj" fmla="val 74538"/>
              </a:avLst>
            </a:prstGeom>
            <a:solidFill>
              <a:srgbClr val="4950BC"/>
            </a:solidFill>
            <a:ln/>
          </p:spPr>
        </p:sp>
        <p:sp>
          <p:nvSpPr>
            <p:cNvPr id="38" name="Shape 2">
              <a:extLst>
                <a:ext uri="{FF2B5EF4-FFF2-40B4-BE49-F238E27FC236}">
                  <a16:creationId xmlns:a16="http://schemas.microsoft.com/office/drawing/2014/main" id="{D6AD3BA2-7BE4-4CF8-AA95-917011E046A2}"/>
                </a:ext>
              </a:extLst>
            </p:cNvPr>
            <p:cNvSpPr/>
            <p:nvPr/>
          </p:nvSpPr>
          <p:spPr>
            <a:xfrm>
              <a:off x="415918" y="4567616"/>
              <a:ext cx="6600825" cy="60960"/>
            </a:xfrm>
            <a:prstGeom prst="roundRect">
              <a:avLst>
                <a:gd name="adj" fmla="val 74538"/>
              </a:avLst>
            </a:prstGeom>
            <a:solidFill>
              <a:srgbClr val="4950BC"/>
            </a:solidFill>
            <a:ln/>
          </p:spPr>
        </p:sp>
        <p:sp>
          <p:nvSpPr>
            <p:cNvPr id="39" name="Shape 2">
              <a:extLst>
                <a:ext uri="{FF2B5EF4-FFF2-40B4-BE49-F238E27FC236}">
                  <a16:creationId xmlns:a16="http://schemas.microsoft.com/office/drawing/2014/main" id="{EFDE548D-E3BF-4326-9D56-BB0A3CEB6110}"/>
                </a:ext>
              </a:extLst>
            </p:cNvPr>
            <p:cNvSpPr/>
            <p:nvPr/>
          </p:nvSpPr>
          <p:spPr>
            <a:xfrm>
              <a:off x="414203" y="5654045"/>
              <a:ext cx="6600825" cy="60960"/>
            </a:xfrm>
            <a:prstGeom prst="roundRect">
              <a:avLst>
                <a:gd name="adj" fmla="val 74538"/>
              </a:avLst>
            </a:prstGeom>
            <a:solidFill>
              <a:srgbClr val="4950BC"/>
            </a:solidFill>
            <a:ln/>
          </p:spPr>
        </p:sp>
        <p:sp>
          <p:nvSpPr>
            <p:cNvPr id="40" name="Shape 2">
              <a:extLst>
                <a:ext uri="{FF2B5EF4-FFF2-40B4-BE49-F238E27FC236}">
                  <a16:creationId xmlns:a16="http://schemas.microsoft.com/office/drawing/2014/main" id="{66FF8C22-ABA0-4DA2-A5A2-CCD1FF828230}"/>
                </a:ext>
              </a:extLst>
            </p:cNvPr>
            <p:cNvSpPr/>
            <p:nvPr/>
          </p:nvSpPr>
          <p:spPr>
            <a:xfrm>
              <a:off x="414202" y="6828592"/>
              <a:ext cx="6600825" cy="60960"/>
            </a:xfrm>
            <a:prstGeom prst="roundRect">
              <a:avLst>
                <a:gd name="adj" fmla="val 74538"/>
              </a:avLst>
            </a:prstGeom>
            <a:solidFill>
              <a:srgbClr val="4950BC"/>
            </a:solidFill>
            <a:ln/>
          </p:spPr>
        </p:sp>
        <p:sp>
          <p:nvSpPr>
            <p:cNvPr id="42" name="Text 5">
              <a:extLst>
                <a:ext uri="{FF2B5EF4-FFF2-40B4-BE49-F238E27FC236}">
                  <a16:creationId xmlns:a16="http://schemas.microsoft.com/office/drawing/2014/main" id="{07AB9D73-E243-4DFF-BACC-489695D8935D}"/>
                </a:ext>
              </a:extLst>
            </p:cNvPr>
            <p:cNvSpPr/>
            <p:nvPr/>
          </p:nvSpPr>
          <p:spPr>
            <a:xfrm>
              <a:off x="1396726" y="2707180"/>
              <a:ext cx="4388204" cy="58146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>
                <a:lnSpc>
                  <a:spcPts val="4704"/>
                </a:lnSpc>
              </a:pPr>
              <a:r>
                <a:rPr lang="en-US" sz="2000" b="1" dirty="0">
                  <a:solidFill>
                    <a:srgbClr val="000000"/>
                  </a:solidFill>
                  <a:latin typeface="Arial Black" panose="020B0A04020102020204" pitchFamily="34" charset="0"/>
                  <a:ea typeface="DM Sans Bold"/>
                  <a:cs typeface="DM Sans Bold"/>
                  <a:sym typeface="DM Sans Bold"/>
                </a:rPr>
                <a:t>Business Objective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CA474EDA-50F6-4FC5-9F5D-23D1B9DA3590}"/>
                </a:ext>
              </a:extLst>
            </p:cNvPr>
            <p:cNvSpPr txBox="1"/>
            <p:nvPr/>
          </p:nvSpPr>
          <p:spPr>
            <a:xfrm>
              <a:off x="1254558" y="3103409"/>
              <a:ext cx="4875820" cy="12303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 algn="ctr">
                <a:lnSpc>
                  <a:spcPts val="11150"/>
                </a:lnSpc>
                <a:buNone/>
              </a:pPr>
              <a:r>
                <a:rPr lang="en-US" sz="1800" b="1" dirty="0">
                  <a:solidFill>
                    <a:srgbClr val="000000"/>
                  </a:solidFill>
                  <a:latin typeface="Arial Black" panose="020B0A04020102020204" pitchFamily="34" charset="0"/>
                  <a:ea typeface="Inter Bold" pitchFamily="34" charset="-122"/>
                  <a:cs typeface="Inter Bold" pitchFamily="34" charset="-120"/>
                </a:rPr>
                <a:t>Website Interface</a:t>
              </a:r>
              <a:endParaRPr lang="en-US" sz="1800" dirty="0">
                <a:latin typeface="Arial Black" panose="020B0A04020102020204" pitchFamily="34" charset="0"/>
              </a:endParaRPr>
            </a:p>
          </p:txBody>
        </p:sp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8CB3F78F-5A97-41FE-925E-66EF68304D7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94711" y="1072382"/>
              <a:ext cx="323116" cy="323116"/>
            </a:xfrm>
            <a:prstGeom prst="rect">
              <a:avLst/>
            </a:prstGeom>
          </p:spPr>
        </p:pic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1CE4BDC9-CE96-4F11-8392-C8B48FE1D04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91498" y="2215448"/>
              <a:ext cx="323116" cy="323116"/>
            </a:xfrm>
            <a:prstGeom prst="rect">
              <a:avLst/>
            </a:prstGeom>
          </p:spPr>
        </p:pic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16989D85-E379-4B83-83C9-FEE1D362FD6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91498" y="3349265"/>
              <a:ext cx="323116" cy="323116"/>
            </a:xfrm>
            <a:prstGeom prst="rect">
              <a:avLst/>
            </a:prstGeom>
          </p:spPr>
        </p:pic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5BA356EC-FCE1-4DB3-A499-D4930D0FB98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94711" y="4439103"/>
              <a:ext cx="323116" cy="323116"/>
            </a:xfrm>
            <a:prstGeom prst="rect">
              <a:avLst/>
            </a:prstGeom>
          </p:spPr>
        </p:pic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09555DAE-327F-4963-9E5B-6C46FE2213F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91498" y="5468207"/>
              <a:ext cx="323116" cy="323116"/>
            </a:xfrm>
            <a:prstGeom prst="rect">
              <a:avLst/>
            </a:prstGeom>
          </p:spPr>
        </p:pic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6630C25A-5A6E-456D-ADF3-E34342D05CB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94711" y="6691324"/>
              <a:ext cx="323116" cy="323116"/>
            </a:xfrm>
            <a:prstGeom prst="rect">
              <a:avLst/>
            </a:prstGeom>
          </p:spPr>
        </p:pic>
        <p:sp>
          <p:nvSpPr>
            <p:cNvPr id="83" name="Text 4">
              <a:extLst>
                <a:ext uri="{FF2B5EF4-FFF2-40B4-BE49-F238E27FC236}">
                  <a16:creationId xmlns:a16="http://schemas.microsoft.com/office/drawing/2014/main" id="{42348C8F-4692-40E4-A604-C93F8AD3E94C}"/>
                </a:ext>
              </a:extLst>
            </p:cNvPr>
            <p:cNvSpPr/>
            <p:nvPr/>
          </p:nvSpPr>
          <p:spPr>
            <a:xfrm>
              <a:off x="3525939" y="1125993"/>
              <a:ext cx="129778" cy="16216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1600"/>
                </a:lnSpc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1</a:t>
              </a:r>
              <a:endParaRPr lang="en-US" sz="1000" dirty="0"/>
            </a:p>
          </p:txBody>
        </p:sp>
        <p:sp>
          <p:nvSpPr>
            <p:cNvPr id="84" name="Text 4">
              <a:extLst>
                <a:ext uri="{FF2B5EF4-FFF2-40B4-BE49-F238E27FC236}">
                  <a16:creationId xmlns:a16="http://schemas.microsoft.com/office/drawing/2014/main" id="{78D883A8-116B-4488-B71F-60D70E678F78}"/>
                </a:ext>
              </a:extLst>
            </p:cNvPr>
            <p:cNvSpPr/>
            <p:nvPr/>
          </p:nvSpPr>
          <p:spPr>
            <a:xfrm>
              <a:off x="3508578" y="2270196"/>
              <a:ext cx="129778" cy="16216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1600"/>
                </a:lnSpc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Inter Bold" pitchFamily="34" charset="0"/>
                  <a:ea typeface="Inter Bold" pitchFamily="34" charset="-122"/>
                </a:rPr>
                <a:t>2</a:t>
              </a:r>
              <a:endParaRPr lang="en-US" sz="1000" dirty="0"/>
            </a:p>
          </p:txBody>
        </p:sp>
        <p:sp>
          <p:nvSpPr>
            <p:cNvPr id="85" name="Text 4">
              <a:extLst>
                <a:ext uri="{FF2B5EF4-FFF2-40B4-BE49-F238E27FC236}">
                  <a16:creationId xmlns:a16="http://schemas.microsoft.com/office/drawing/2014/main" id="{1485DCF6-AE84-46E3-A105-CB58B0C3EE68}"/>
                </a:ext>
              </a:extLst>
            </p:cNvPr>
            <p:cNvSpPr/>
            <p:nvPr/>
          </p:nvSpPr>
          <p:spPr>
            <a:xfrm>
              <a:off x="3508578" y="3386940"/>
              <a:ext cx="129778" cy="16216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1600"/>
                </a:lnSpc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Inter Bold" pitchFamily="34" charset="0"/>
                  <a:ea typeface="Inter Bold" pitchFamily="34" charset="-122"/>
                </a:rPr>
                <a:t>3</a:t>
              </a:r>
              <a:endParaRPr lang="en-US" sz="1000" dirty="0"/>
            </a:p>
          </p:txBody>
        </p:sp>
        <p:sp>
          <p:nvSpPr>
            <p:cNvPr id="86" name="Text 4">
              <a:extLst>
                <a:ext uri="{FF2B5EF4-FFF2-40B4-BE49-F238E27FC236}">
                  <a16:creationId xmlns:a16="http://schemas.microsoft.com/office/drawing/2014/main" id="{2568E20A-43DD-4CA6-A046-C303E1C590FB}"/>
                </a:ext>
              </a:extLst>
            </p:cNvPr>
            <p:cNvSpPr/>
            <p:nvPr/>
          </p:nvSpPr>
          <p:spPr>
            <a:xfrm>
              <a:off x="3508578" y="4486534"/>
              <a:ext cx="129778" cy="16216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1600"/>
                </a:lnSpc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Inter Bold" pitchFamily="34" charset="0"/>
                  <a:ea typeface="Inter Bold" pitchFamily="34" charset="-122"/>
                </a:rPr>
                <a:t>4</a:t>
              </a:r>
              <a:endParaRPr lang="en-US" sz="1000" dirty="0"/>
            </a:p>
          </p:txBody>
        </p:sp>
        <p:sp>
          <p:nvSpPr>
            <p:cNvPr id="87" name="Text 4">
              <a:extLst>
                <a:ext uri="{FF2B5EF4-FFF2-40B4-BE49-F238E27FC236}">
                  <a16:creationId xmlns:a16="http://schemas.microsoft.com/office/drawing/2014/main" id="{A77C05D9-A5E4-4DBF-862D-7BFD4AE2BD6E}"/>
                </a:ext>
              </a:extLst>
            </p:cNvPr>
            <p:cNvSpPr/>
            <p:nvPr/>
          </p:nvSpPr>
          <p:spPr>
            <a:xfrm>
              <a:off x="3525939" y="5523587"/>
              <a:ext cx="129778" cy="16216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1600"/>
                </a:lnSpc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Inter Bold" pitchFamily="34" charset="0"/>
                  <a:ea typeface="Inter Bold" pitchFamily="34" charset="-122"/>
                </a:rPr>
                <a:t>5</a:t>
              </a:r>
              <a:endParaRPr lang="en-US" sz="1000" dirty="0"/>
            </a:p>
          </p:txBody>
        </p:sp>
        <p:sp>
          <p:nvSpPr>
            <p:cNvPr id="88" name="Text 4">
              <a:extLst>
                <a:ext uri="{FF2B5EF4-FFF2-40B4-BE49-F238E27FC236}">
                  <a16:creationId xmlns:a16="http://schemas.microsoft.com/office/drawing/2014/main" id="{8E5C05AA-3654-42A0-A2EC-7C529F70145D}"/>
                </a:ext>
              </a:extLst>
            </p:cNvPr>
            <p:cNvSpPr/>
            <p:nvPr/>
          </p:nvSpPr>
          <p:spPr>
            <a:xfrm>
              <a:off x="3508578" y="6774493"/>
              <a:ext cx="129778" cy="16216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1600"/>
                </a:lnSpc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Inter Bold" pitchFamily="34" charset="0"/>
                  <a:ea typeface="Inter Bold" pitchFamily="34" charset="-122"/>
                </a:rPr>
                <a:t>6</a:t>
              </a:r>
              <a:endParaRPr 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8921333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71B0F70-D0B6-45D0-B42B-1535C94D6BD8}"/>
              </a:ext>
            </a:extLst>
          </p:cNvPr>
          <p:cNvSpPr/>
          <p:nvPr/>
        </p:nvSpPr>
        <p:spPr>
          <a:xfrm>
            <a:off x="576820" y="899874"/>
            <a:ext cx="1331591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Arial Black" panose="020B0A04020102020204" pitchFamily="34" charset="0"/>
                <a:ea typeface="Inter Bold" pitchFamily="34" charset="-122"/>
                <a:cs typeface="Inter Bold" pitchFamily="34" charset="-120"/>
              </a:rPr>
              <a:t>Why Restaurant Data Matters</a:t>
            </a:r>
            <a:endParaRPr lang="en-US" sz="4450" dirty="0">
              <a:latin typeface="Arial Black" panose="020B0A04020102020204" pitchFamily="34" charset="0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753A03B-702D-42CA-B719-0130E7E9E27B}"/>
              </a:ext>
            </a:extLst>
          </p:cNvPr>
          <p:cNvSpPr/>
          <p:nvPr/>
        </p:nvSpPr>
        <p:spPr>
          <a:xfrm>
            <a:off x="793790" y="2328743"/>
            <a:ext cx="4196358" cy="2047994"/>
          </a:xfrm>
          <a:prstGeom prst="roundRect">
            <a:avLst>
              <a:gd name="adj" fmla="val 465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1E3DF9BE-05B6-4B69-9C28-4CF0ECB11AF4}"/>
              </a:ext>
            </a:extLst>
          </p:cNvPr>
          <p:cNvSpPr/>
          <p:nvPr/>
        </p:nvSpPr>
        <p:spPr>
          <a:xfrm>
            <a:off x="5216962" y="2328743"/>
            <a:ext cx="4196358" cy="2047994"/>
          </a:xfrm>
          <a:prstGeom prst="roundRect">
            <a:avLst>
              <a:gd name="adj" fmla="val 465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5" name="Shape 7">
            <a:extLst>
              <a:ext uri="{FF2B5EF4-FFF2-40B4-BE49-F238E27FC236}">
                <a16:creationId xmlns:a16="http://schemas.microsoft.com/office/drawing/2014/main" id="{203E6D47-620C-42DF-B033-CA9F751E4CBA}"/>
              </a:ext>
            </a:extLst>
          </p:cNvPr>
          <p:cNvSpPr/>
          <p:nvPr/>
        </p:nvSpPr>
        <p:spPr>
          <a:xfrm>
            <a:off x="9640133" y="2328743"/>
            <a:ext cx="4196358" cy="2047994"/>
          </a:xfrm>
          <a:prstGeom prst="roundRect">
            <a:avLst>
              <a:gd name="adj" fmla="val 465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B5163040-F392-4ABD-A3E9-DEFED9CC7FA1}"/>
              </a:ext>
            </a:extLst>
          </p:cNvPr>
          <p:cNvSpPr/>
          <p:nvPr/>
        </p:nvSpPr>
        <p:spPr>
          <a:xfrm>
            <a:off x="1028224" y="25631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Cuisine Distribution</a:t>
            </a:r>
            <a:endParaRPr lang="en-US" sz="22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C3BBBF1-9CDF-4E1E-9C1C-CE6B37BA5030}"/>
              </a:ext>
            </a:extLst>
          </p:cNvPr>
          <p:cNvSpPr/>
          <p:nvPr/>
        </p:nvSpPr>
        <p:spPr>
          <a:xfrm>
            <a:off x="5451396" y="25631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Quality Hotspots</a:t>
            </a:r>
            <a:endParaRPr lang="en-US" sz="2200" dirty="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64BCFE7D-1386-4A16-B21A-E86435629C87}"/>
              </a:ext>
            </a:extLst>
          </p:cNvPr>
          <p:cNvSpPr/>
          <p:nvPr/>
        </p:nvSpPr>
        <p:spPr>
          <a:xfrm>
            <a:off x="9874568" y="2563178"/>
            <a:ext cx="315837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Category Performance</a:t>
            </a:r>
            <a:endParaRPr lang="en-US" sz="220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29CE6AE0-C41F-4CB3-B846-41BF13139818}"/>
              </a:ext>
            </a:extLst>
          </p:cNvPr>
          <p:cNvSpPr/>
          <p:nvPr/>
        </p:nvSpPr>
        <p:spPr>
          <a:xfrm>
            <a:off x="1028224" y="3053596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types of cuisines dominate specific neighborhoods across different cities?</a:t>
            </a:r>
            <a:endParaRPr lang="en-US" sz="175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7E921353-CFAB-467D-9A3A-B3083A7581A8}"/>
              </a:ext>
            </a:extLst>
          </p:cNvPr>
          <p:cNvSpPr/>
          <p:nvPr/>
        </p:nvSpPr>
        <p:spPr>
          <a:xfrm>
            <a:off x="5451396" y="3053596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areas concentrate the highest-rated restaurants for competitive advantage?</a:t>
            </a:r>
            <a:endParaRPr lang="en-US" sz="175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B4A12A82-1E6A-481D-AABC-9B1B66070E46}"/>
              </a:ext>
            </a:extLst>
          </p:cNvPr>
          <p:cNvSpPr/>
          <p:nvPr/>
        </p:nvSpPr>
        <p:spPr>
          <a:xfrm>
            <a:off x="9874568" y="3053596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restaurant categories offer the most attractive discounts and highest ratings?</a:t>
            </a:r>
            <a:endParaRPr lang="en-US" sz="175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EAFBCDF1-D432-4B6D-9E8A-CF831BF44E52}"/>
              </a:ext>
            </a:extLst>
          </p:cNvPr>
          <p:cNvSpPr/>
          <p:nvPr/>
        </p:nvSpPr>
        <p:spPr>
          <a:xfrm>
            <a:off x="793790" y="4745269"/>
            <a:ext cx="13042821" cy="35957"/>
          </a:xfrm>
          <a:prstGeom prst="rect">
            <a:avLst/>
          </a:prstGeom>
          <a:solidFill>
            <a:srgbClr val="272525">
              <a:alpha val="50000"/>
            </a:srgbClr>
          </a:solidFill>
          <a:ln/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7FAEB67F-3E5E-4D32-AA96-05C74ADEB1A7}"/>
              </a:ext>
            </a:extLst>
          </p:cNvPr>
          <p:cNvSpPr/>
          <p:nvPr/>
        </p:nvSpPr>
        <p:spPr>
          <a:xfrm>
            <a:off x="793790" y="5121354"/>
            <a:ext cx="336339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Real-World Applications</a:t>
            </a:r>
            <a:endParaRPr lang="en-US" sz="22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0D356D8E-00DB-4A91-BAE3-518995E8F8FF}"/>
              </a:ext>
            </a:extLst>
          </p:cNvPr>
          <p:cNvSpPr/>
          <p:nvPr/>
        </p:nvSpPr>
        <p:spPr>
          <a:xfrm>
            <a:off x="793790" y="581584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City-wise Food Guides: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Create targeted restaurant recommendations by neighborhood</a:t>
            </a:r>
            <a:endParaRPr lang="en-US" sz="175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C6C846B4-102D-4863-8372-0E87D01BDD79}"/>
              </a:ext>
            </a:extLst>
          </p:cNvPr>
          <p:cNvSpPr/>
          <p:nvPr/>
        </p:nvSpPr>
        <p:spPr>
          <a:xfrm>
            <a:off x="793790" y="625804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Food Delivery Strategy: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Identify high-demand areas and cuisine preferences</a:t>
            </a:r>
            <a:endParaRPr lang="en-US" sz="175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6D339BF1-05DB-47FF-AFC0-2F9A5071A166}"/>
              </a:ext>
            </a:extLst>
          </p:cNvPr>
          <p:cNvSpPr/>
          <p:nvPr/>
        </p:nvSpPr>
        <p:spPr>
          <a:xfrm>
            <a:off x="793790" y="670024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Investment &amp; Franchising: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Discover emerging markets and competitive gaps</a:t>
            </a:r>
            <a:endParaRPr lang="en-US" sz="17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BF407CF-C7AE-4E24-B178-54C1235A99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55479" y="7590207"/>
            <a:ext cx="2019404" cy="425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235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183807" y="973972"/>
            <a:ext cx="10262787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04"/>
              </a:lnSpc>
            </a:pPr>
            <a:r>
              <a:rPr lang="en-US" sz="4400" b="1" dirty="0">
                <a:solidFill>
                  <a:srgbClr val="000000"/>
                </a:solidFill>
                <a:latin typeface="Arial Black" panose="020B0A04020102020204" pitchFamily="34" charset="0"/>
                <a:ea typeface="DM Sans Bold"/>
                <a:cs typeface="DM Sans Bold"/>
                <a:sym typeface="DM Sans Bold"/>
              </a:rPr>
              <a:t>Business Objective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229037" y="2408364"/>
            <a:ext cx="2698827" cy="3412874"/>
            <a:chOff x="0" y="0"/>
            <a:chExt cx="888503" cy="112358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88503" cy="1123580"/>
            </a:xfrm>
            <a:custGeom>
              <a:avLst/>
              <a:gdLst/>
              <a:ahLst/>
              <a:cxnLst/>
              <a:rect l="l" t="t" r="r" b="b"/>
              <a:pathLst>
                <a:path w="888503" h="1123580">
                  <a:moveTo>
                    <a:pt x="0" y="0"/>
                  </a:moveTo>
                  <a:lnTo>
                    <a:pt x="888503" y="0"/>
                  </a:lnTo>
                  <a:lnTo>
                    <a:pt x="888503" y="1123580"/>
                  </a:lnTo>
                  <a:lnTo>
                    <a:pt x="0" y="1123580"/>
                  </a:ln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28575"/>
              <a:ext cx="888503" cy="1095005"/>
            </a:xfrm>
            <a:prstGeom prst="rect">
              <a:avLst/>
            </a:prstGeom>
          </p:spPr>
          <p:txBody>
            <a:bodyPr lIns="40640" tIns="40640" rIns="40640" bIns="40640" rtlCol="0" anchor="ctr"/>
            <a:lstStyle/>
            <a:p>
              <a:pPr algn="ctr">
                <a:lnSpc>
                  <a:spcPts val="1680"/>
                </a:lnSpc>
              </a:pPr>
              <a:endParaRPr sz="1440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93347" y="2701472"/>
            <a:ext cx="2881778" cy="648235"/>
            <a:chOff x="0" y="0"/>
            <a:chExt cx="1098171" cy="24702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98171" cy="247026"/>
            </a:xfrm>
            <a:custGeom>
              <a:avLst/>
              <a:gdLst/>
              <a:ahLst/>
              <a:cxnLst/>
              <a:rect l="l" t="t" r="r" b="b"/>
              <a:pathLst>
                <a:path w="1098171" h="247026">
                  <a:moveTo>
                    <a:pt x="0" y="0"/>
                  </a:moveTo>
                  <a:lnTo>
                    <a:pt x="894971" y="0"/>
                  </a:lnTo>
                  <a:lnTo>
                    <a:pt x="1098171" y="123513"/>
                  </a:lnTo>
                  <a:lnTo>
                    <a:pt x="894971" y="247026"/>
                  </a:lnTo>
                  <a:lnTo>
                    <a:pt x="0" y="247026"/>
                  </a:lnTo>
                  <a:lnTo>
                    <a:pt x="203200" y="1235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7C2A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177800" y="28575"/>
              <a:ext cx="844171" cy="218451"/>
            </a:xfrm>
            <a:prstGeom prst="rect">
              <a:avLst/>
            </a:prstGeom>
          </p:spPr>
          <p:txBody>
            <a:bodyPr lIns="40640" tIns="40640" rIns="40640" bIns="40640" rtlCol="0" anchor="ctr"/>
            <a:lstStyle/>
            <a:p>
              <a:pPr algn="ctr">
                <a:lnSpc>
                  <a:spcPts val="1680"/>
                </a:lnSpc>
              </a:pPr>
              <a:endParaRPr sz="1440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434829" y="2813754"/>
            <a:ext cx="1630135" cy="43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80"/>
              </a:lnSpc>
            </a:pPr>
            <a:r>
              <a:rPr lang="en-US" sz="1680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Better Dining Decisions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64794" y="3545772"/>
            <a:ext cx="2027312" cy="1516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16"/>
              </a:lnSpc>
            </a:pPr>
            <a:r>
              <a:rPr lang="en-US" sz="144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In today’s world, choosing where to eat isn’t just about food — it’s about experience, value, and trust.</a:t>
            </a:r>
          </a:p>
          <a:p>
            <a:pPr algn="ctr">
              <a:lnSpc>
                <a:spcPts val="2016"/>
              </a:lnSpc>
            </a:pPr>
            <a:endParaRPr lang="en-US" sz="1440" dirty="0">
              <a:solidFill>
                <a:srgbClr val="545454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4533912" y="2408364"/>
            <a:ext cx="2698827" cy="3412874"/>
            <a:chOff x="0" y="0"/>
            <a:chExt cx="888503" cy="112358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88503" cy="1123580"/>
            </a:xfrm>
            <a:custGeom>
              <a:avLst/>
              <a:gdLst/>
              <a:ahLst/>
              <a:cxnLst/>
              <a:rect l="l" t="t" r="r" b="b"/>
              <a:pathLst>
                <a:path w="888503" h="1123580">
                  <a:moveTo>
                    <a:pt x="0" y="0"/>
                  </a:moveTo>
                  <a:lnTo>
                    <a:pt x="888503" y="0"/>
                  </a:lnTo>
                  <a:lnTo>
                    <a:pt x="888503" y="1123580"/>
                  </a:lnTo>
                  <a:lnTo>
                    <a:pt x="0" y="1123580"/>
                  </a:ln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28575"/>
              <a:ext cx="888503" cy="1095005"/>
            </a:xfrm>
            <a:prstGeom prst="rect">
              <a:avLst/>
            </a:prstGeom>
          </p:spPr>
          <p:txBody>
            <a:bodyPr lIns="40640" tIns="40640" rIns="40640" bIns="40640" rtlCol="0" anchor="ctr"/>
            <a:lstStyle/>
            <a:p>
              <a:pPr algn="ctr">
                <a:lnSpc>
                  <a:spcPts val="1680"/>
                </a:lnSpc>
              </a:pPr>
              <a:endParaRPr sz="1440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098223" y="2701472"/>
            <a:ext cx="2881778" cy="648235"/>
            <a:chOff x="0" y="0"/>
            <a:chExt cx="1098171" cy="24702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98171" cy="247026"/>
            </a:xfrm>
            <a:custGeom>
              <a:avLst/>
              <a:gdLst/>
              <a:ahLst/>
              <a:cxnLst/>
              <a:rect l="l" t="t" r="r" b="b"/>
              <a:pathLst>
                <a:path w="1098171" h="247026">
                  <a:moveTo>
                    <a:pt x="0" y="0"/>
                  </a:moveTo>
                  <a:lnTo>
                    <a:pt x="894971" y="0"/>
                  </a:lnTo>
                  <a:lnTo>
                    <a:pt x="1098171" y="123513"/>
                  </a:lnTo>
                  <a:lnTo>
                    <a:pt x="894971" y="247026"/>
                  </a:lnTo>
                  <a:lnTo>
                    <a:pt x="0" y="247026"/>
                  </a:lnTo>
                  <a:lnTo>
                    <a:pt x="203200" y="1235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950C5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177800" y="28575"/>
              <a:ext cx="844171" cy="218451"/>
            </a:xfrm>
            <a:prstGeom prst="rect">
              <a:avLst/>
            </a:prstGeom>
          </p:spPr>
          <p:txBody>
            <a:bodyPr lIns="40640" tIns="40640" rIns="40640" bIns="40640" rtlCol="0" anchor="ctr"/>
            <a:lstStyle/>
            <a:p>
              <a:pPr algn="ctr">
                <a:lnSpc>
                  <a:spcPts val="1680"/>
                </a:lnSpc>
              </a:pPr>
              <a:endParaRPr sz="1440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4739704" y="2813754"/>
            <a:ext cx="1630135" cy="43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80"/>
              </a:lnSpc>
            </a:pPr>
            <a:r>
              <a:rPr lang="en-US" sz="1680" b="1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Solve Selection Confusion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869670" y="3545772"/>
            <a:ext cx="2027312" cy="1773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16"/>
              </a:lnSpc>
            </a:pPr>
            <a:r>
              <a:rPr lang="en-US" sz="144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With so many restaurants available online, people often struggle to decide “Where should I dine tonight?”</a:t>
            </a:r>
          </a:p>
          <a:p>
            <a:pPr algn="ctr">
              <a:lnSpc>
                <a:spcPts val="2016"/>
              </a:lnSpc>
            </a:pPr>
            <a:endParaRPr lang="en-US" sz="1440" dirty="0">
              <a:solidFill>
                <a:srgbClr val="545454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grpSp>
        <p:nvGrpSpPr>
          <p:cNvPr id="19" name="Group 19"/>
          <p:cNvGrpSpPr/>
          <p:nvPr/>
        </p:nvGrpSpPr>
        <p:grpSpPr>
          <a:xfrm>
            <a:off x="7836069" y="2408364"/>
            <a:ext cx="2698827" cy="3412874"/>
            <a:chOff x="0" y="0"/>
            <a:chExt cx="888503" cy="112358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88503" cy="1123580"/>
            </a:xfrm>
            <a:custGeom>
              <a:avLst/>
              <a:gdLst/>
              <a:ahLst/>
              <a:cxnLst/>
              <a:rect l="l" t="t" r="r" b="b"/>
              <a:pathLst>
                <a:path w="888503" h="1123580">
                  <a:moveTo>
                    <a:pt x="0" y="0"/>
                  </a:moveTo>
                  <a:lnTo>
                    <a:pt x="888503" y="0"/>
                  </a:lnTo>
                  <a:lnTo>
                    <a:pt x="888503" y="1123580"/>
                  </a:lnTo>
                  <a:lnTo>
                    <a:pt x="0" y="1123580"/>
                  </a:ln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28575"/>
              <a:ext cx="888503" cy="1095005"/>
            </a:xfrm>
            <a:prstGeom prst="rect">
              <a:avLst/>
            </a:prstGeom>
          </p:spPr>
          <p:txBody>
            <a:bodyPr lIns="40640" tIns="40640" rIns="40640" bIns="40640" rtlCol="0" anchor="ctr"/>
            <a:lstStyle/>
            <a:p>
              <a:pPr algn="ctr">
                <a:lnSpc>
                  <a:spcPts val="1680"/>
                </a:lnSpc>
              </a:pPr>
              <a:endParaRPr sz="1440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400380" y="2701472"/>
            <a:ext cx="2881778" cy="648235"/>
            <a:chOff x="0" y="0"/>
            <a:chExt cx="1098171" cy="24702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98171" cy="247026"/>
            </a:xfrm>
            <a:custGeom>
              <a:avLst/>
              <a:gdLst/>
              <a:ahLst/>
              <a:cxnLst/>
              <a:rect l="l" t="t" r="r" b="b"/>
              <a:pathLst>
                <a:path w="1098171" h="247026">
                  <a:moveTo>
                    <a:pt x="0" y="0"/>
                  </a:moveTo>
                  <a:lnTo>
                    <a:pt x="894971" y="0"/>
                  </a:lnTo>
                  <a:lnTo>
                    <a:pt x="1098171" y="123513"/>
                  </a:lnTo>
                  <a:lnTo>
                    <a:pt x="894971" y="247026"/>
                  </a:lnTo>
                  <a:lnTo>
                    <a:pt x="0" y="247026"/>
                  </a:lnTo>
                  <a:lnTo>
                    <a:pt x="203200" y="1235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166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177800" y="28575"/>
              <a:ext cx="844171" cy="218451"/>
            </a:xfrm>
            <a:prstGeom prst="rect">
              <a:avLst/>
            </a:prstGeom>
          </p:spPr>
          <p:txBody>
            <a:bodyPr lIns="40640" tIns="40640" rIns="40640" bIns="40640" rtlCol="0" anchor="ctr"/>
            <a:lstStyle/>
            <a:p>
              <a:pPr algn="ctr">
                <a:lnSpc>
                  <a:spcPts val="1680"/>
                </a:lnSpc>
              </a:pPr>
              <a:endParaRPr sz="1440"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8041861" y="2813754"/>
            <a:ext cx="1630135" cy="43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80"/>
              </a:lnSpc>
            </a:pPr>
            <a:r>
              <a:rPr lang="en-US" sz="1680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Use </a:t>
            </a:r>
            <a:r>
              <a:rPr lang="en-US" sz="1680" b="1" dirty="0" err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EazyDiner</a:t>
            </a:r>
            <a:r>
              <a:rPr lang="en-US" sz="1680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Data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171826" y="3545772"/>
            <a:ext cx="2027312" cy="10038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16"/>
              </a:lnSpc>
            </a:pPr>
            <a:r>
              <a:rPr lang="en-US" sz="144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This project aims to bridge that gap using data from </a:t>
            </a:r>
            <a:r>
              <a:rPr lang="en-US" sz="1440" dirty="0" err="1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EazyDiner</a:t>
            </a:r>
            <a:r>
              <a:rPr lang="en-US" sz="144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  <a:p>
            <a:pPr algn="ctr">
              <a:lnSpc>
                <a:spcPts val="2016"/>
              </a:lnSpc>
            </a:pPr>
            <a:endParaRPr lang="en-US" sz="1440" dirty="0">
              <a:solidFill>
                <a:srgbClr val="545454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grpSp>
        <p:nvGrpSpPr>
          <p:cNvPr id="27" name="Group 27"/>
          <p:cNvGrpSpPr/>
          <p:nvPr/>
        </p:nvGrpSpPr>
        <p:grpSpPr>
          <a:xfrm>
            <a:off x="11138226" y="2408364"/>
            <a:ext cx="3265537" cy="3230820"/>
            <a:chOff x="0" y="0"/>
            <a:chExt cx="1075074" cy="1063644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075074" cy="1063644"/>
            </a:xfrm>
            <a:custGeom>
              <a:avLst/>
              <a:gdLst/>
              <a:ahLst/>
              <a:cxnLst/>
              <a:rect l="l" t="t" r="r" b="b"/>
              <a:pathLst>
                <a:path w="1075074" h="1063644">
                  <a:moveTo>
                    <a:pt x="0" y="0"/>
                  </a:moveTo>
                  <a:lnTo>
                    <a:pt x="1075074" y="0"/>
                  </a:lnTo>
                  <a:lnTo>
                    <a:pt x="1075074" y="1063644"/>
                  </a:lnTo>
                  <a:lnTo>
                    <a:pt x="0" y="1063644"/>
                  </a:ln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28575"/>
              <a:ext cx="1075074" cy="1035069"/>
            </a:xfrm>
            <a:prstGeom prst="rect">
              <a:avLst/>
            </a:prstGeom>
          </p:spPr>
          <p:txBody>
            <a:bodyPr lIns="40640" tIns="40640" rIns="40640" bIns="40640" rtlCol="0" anchor="ctr"/>
            <a:lstStyle/>
            <a:p>
              <a:pPr algn="ctr">
                <a:lnSpc>
                  <a:spcPts val="1680"/>
                </a:lnSpc>
              </a:pPr>
              <a:endParaRPr sz="1440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0702537" y="2701472"/>
            <a:ext cx="2881778" cy="648235"/>
            <a:chOff x="0" y="0"/>
            <a:chExt cx="1098171" cy="247026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098171" cy="247026"/>
            </a:xfrm>
            <a:custGeom>
              <a:avLst/>
              <a:gdLst/>
              <a:ahLst/>
              <a:cxnLst/>
              <a:rect l="l" t="t" r="r" b="b"/>
              <a:pathLst>
                <a:path w="1098171" h="247026">
                  <a:moveTo>
                    <a:pt x="0" y="0"/>
                  </a:moveTo>
                  <a:lnTo>
                    <a:pt x="894971" y="0"/>
                  </a:lnTo>
                  <a:lnTo>
                    <a:pt x="1098171" y="123513"/>
                  </a:lnTo>
                  <a:lnTo>
                    <a:pt x="894971" y="247026"/>
                  </a:lnTo>
                  <a:lnTo>
                    <a:pt x="0" y="247026"/>
                  </a:lnTo>
                  <a:lnTo>
                    <a:pt x="203200" y="1235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7C2A"/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177800" y="28575"/>
              <a:ext cx="844171" cy="218451"/>
            </a:xfrm>
            <a:prstGeom prst="rect">
              <a:avLst/>
            </a:prstGeom>
          </p:spPr>
          <p:txBody>
            <a:bodyPr lIns="40640" tIns="40640" rIns="40640" bIns="40640" rtlCol="0" anchor="ctr"/>
            <a:lstStyle/>
            <a:p>
              <a:pPr algn="ctr">
                <a:lnSpc>
                  <a:spcPts val="1680"/>
                </a:lnSpc>
              </a:pPr>
              <a:endParaRPr sz="1440"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1344017" y="2813754"/>
            <a:ext cx="1908493" cy="43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80"/>
              </a:lnSpc>
            </a:pPr>
            <a:r>
              <a:rPr lang="en-US" sz="1680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Find Dining Trends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473984" y="3545772"/>
            <a:ext cx="2657921" cy="17247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4"/>
              </a:lnSpc>
            </a:pPr>
            <a:r>
              <a:rPr lang="en-US" sz="1203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By collecting and analyzing restaurant information — from ratings and cuisines to prices and locations — we uncover real dining trends that show what people love, where they prefer to eat, and what truly defines a great restaurant experience.</a:t>
            </a:r>
          </a:p>
          <a:p>
            <a:pPr algn="ctr">
              <a:lnSpc>
                <a:spcPts val="1684"/>
              </a:lnSpc>
            </a:pPr>
            <a:endParaRPr lang="en-US" sz="1203" dirty="0">
              <a:solidFill>
                <a:srgbClr val="545454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35" name="AutoShape 35"/>
          <p:cNvSpPr/>
          <p:nvPr/>
        </p:nvSpPr>
        <p:spPr>
          <a:xfrm flipV="1">
            <a:off x="2554919" y="6304302"/>
            <a:ext cx="9891674" cy="0"/>
          </a:xfrm>
          <a:prstGeom prst="line">
            <a:avLst/>
          </a:prstGeom>
          <a:ln w="38100" cap="flat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6" name="Group 36"/>
          <p:cNvGrpSpPr/>
          <p:nvPr/>
        </p:nvGrpSpPr>
        <p:grpSpPr>
          <a:xfrm>
            <a:off x="2466516" y="6192369"/>
            <a:ext cx="223868" cy="223868"/>
            <a:chOff x="0" y="0"/>
            <a:chExt cx="812800" cy="8128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7C2A"/>
            </a:solidFill>
          </p:spPr>
        </p:sp>
        <p:sp>
          <p:nvSpPr>
            <p:cNvPr id="38" name="TextBox 38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40640" tIns="40640" rIns="40640" bIns="40640" rtlCol="0" anchor="ctr"/>
            <a:lstStyle/>
            <a:p>
              <a:pPr algn="ctr">
                <a:lnSpc>
                  <a:spcPts val="1680"/>
                </a:lnSpc>
              </a:pPr>
              <a:endParaRPr sz="1440"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5771392" y="6192369"/>
            <a:ext cx="223868" cy="223868"/>
            <a:chOff x="0" y="0"/>
            <a:chExt cx="812800" cy="8128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950C5"/>
            </a:solidFill>
          </p:spPr>
        </p:sp>
        <p:sp>
          <p:nvSpPr>
            <p:cNvPr id="41" name="TextBox 41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40640" tIns="40640" rIns="40640" bIns="40640" rtlCol="0" anchor="ctr"/>
            <a:lstStyle/>
            <a:p>
              <a:pPr algn="ctr">
                <a:lnSpc>
                  <a:spcPts val="1680"/>
                </a:lnSpc>
              </a:pPr>
              <a:endParaRPr sz="1440"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9073549" y="6192369"/>
            <a:ext cx="223868" cy="223868"/>
            <a:chOff x="0" y="0"/>
            <a:chExt cx="812800" cy="8128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166"/>
            </a:solidFill>
          </p:spPr>
        </p:sp>
        <p:sp>
          <p:nvSpPr>
            <p:cNvPr id="44" name="TextBox 44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40640" tIns="40640" rIns="40640" bIns="40640" rtlCol="0" anchor="ctr"/>
            <a:lstStyle/>
            <a:p>
              <a:pPr algn="ctr">
                <a:lnSpc>
                  <a:spcPts val="1680"/>
                </a:lnSpc>
              </a:pPr>
              <a:endParaRPr sz="1440"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2334660" y="6192369"/>
            <a:ext cx="223868" cy="223868"/>
            <a:chOff x="0" y="0"/>
            <a:chExt cx="812800" cy="81280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7C2A"/>
            </a:solidFill>
          </p:spPr>
        </p:sp>
        <p:sp>
          <p:nvSpPr>
            <p:cNvPr id="47" name="TextBox 47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40640" tIns="40640" rIns="40640" bIns="40640" rtlCol="0" anchor="ctr"/>
            <a:lstStyle/>
            <a:p>
              <a:pPr algn="ctr">
                <a:lnSpc>
                  <a:spcPts val="1680"/>
                </a:lnSpc>
              </a:pPr>
              <a:endParaRPr sz="1440"/>
            </a:p>
          </p:txBody>
        </p:sp>
      </p:grpSp>
      <p:sp>
        <p:nvSpPr>
          <p:cNvPr id="49" name="Freeform 49"/>
          <p:cNvSpPr/>
          <p:nvPr/>
        </p:nvSpPr>
        <p:spPr>
          <a:xfrm rot="1616431">
            <a:off x="12191209" y="1229918"/>
            <a:ext cx="510770" cy="340950"/>
          </a:xfrm>
          <a:custGeom>
            <a:avLst/>
            <a:gdLst/>
            <a:ahLst/>
            <a:cxnLst/>
            <a:rect l="l" t="t" r="r" b="b"/>
            <a:pathLst>
              <a:path w="638462" h="426188">
                <a:moveTo>
                  <a:pt x="0" y="0"/>
                </a:moveTo>
                <a:lnTo>
                  <a:pt x="638462" y="0"/>
                </a:lnTo>
                <a:lnTo>
                  <a:pt x="638462" y="426188"/>
                </a:lnTo>
                <a:lnTo>
                  <a:pt x="0" y="4261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0" name="Freeform 50"/>
          <p:cNvSpPr/>
          <p:nvPr/>
        </p:nvSpPr>
        <p:spPr>
          <a:xfrm>
            <a:off x="1803676" y="7023051"/>
            <a:ext cx="861118" cy="767178"/>
          </a:xfrm>
          <a:custGeom>
            <a:avLst/>
            <a:gdLst/>
            <a:ahLst/>
            <a:cxnLst/>
            <a:rect l="l" t="t" r="r" b="b"/>
            <a:pathLst>
              <a:path w="1076398" h="958973">
                <a:moveTo>
                  <a:pt x="0" y="0"/>
                </a:moveTo>
                <a:lnTo>
                  <a:pt x="1076399" y="0"/>
                </a:lnTo>
                <a:lnTo>
                  <a:pt x="1076399" y="958974"/>
                </a:lnTo>
                <a:lnTo>
                  <a:pt x="0" y="9589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1C264B45-379C-49A4-AB2B-7D85D2CBA5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55479" y="7590207"/>
            <a:ext cx="2019404" cy="4254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41B1EBD-EACB-461A-BDDB-1924F61D772D}"/>
              </a:ext>
            </a:extLst>
          </p:cNvPr>
          <p:cNvSpPr txBox="1"/>
          <p:nvPr/>
        </p:nvSpPr>
        <p:spPr>
          <a:xfrm>
            <a:off x="81023" y="0"/>
            <a:ext cx="11725153" cy="131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ts val="1115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Arial Black" panose="020B0A04020102020204" pitchFamily="34" charset="0"/>
                <a:ea typeface="Inter Bold" pitchFamily="34" charset="-122"/>
                <a:cs typeface="Inter Bold" pitchFamily="34" charset="-120"/>
              </a:rPr>
              <a:t>Website Interface</a:t>
            </a:r>
            <a:endParaRPr lang="en-US" sz="4400" dirty="0">
              <a:latin typeface="Arial Black" panose="020B0A040201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A93078-3616-4411-A884-81683900EA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452344"/>
            <a:ext cx="14630400" cy="576395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C48FA43-A5B4-40BA-BEC0-0FA9669966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55479" y="7590207"/>
            <a:ext cx="2019404" cy="425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8082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3603BA2-1D60-49BF-AAB4-045D4EE79A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036" y="1232083"/>
            <a:ext cx="5451676" cy="655460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7701963-CC69-48A4-A806-75AB3CD5A097}"/>
              </a:ext>
            </a:extLst>
          </p:cNvPr>
          <p:cNvSpPr txBox="1"/>
          <p:nvPr/>
        </p:nvSpPr>
        <p:spPr>
          <a:xfrm>
            <a:off x="2604303" y="293513"/>
            <a:ext cx="9641711" cy="6950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ts val="47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Arial Black" panose="020B0A04020102020204" pitchFamily="34" charset="0"/>
                <a:ea typeface="Inter Bold" pitchFamily="34" charset="-122"/>
                <a:cs typeface="Inter Bold" pitchFamily="34" charset="-120"/>
              </a:rPr>
              <a:t>Data Collection Strategy</a:t>
            </a:r>
            <a:endParaRPr lang="en-US" sz="4400" dirty="0">
              <a:latin typeface="Arial Black" panose="020B0A04020102020204" pitchFamily="34" charset="0"/>
            </a:endParaRPr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60323110-970B-48C1-B590-BF3A378D4D64}"/>
              </a:ext>
            </a:extLst>
          </p:cNvPr>
          <p:cNvSpPr/>
          <p:nvPr/>
        </p:nvSpPr>
        <p:spPr>
          <a:xfrm>
            <a:off x="6664582" y="1547504"/>
            <a:ext cx="433745" cy="433745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32D63D66-60C3-47DA-85AA-47EC0669288D}"/>
              </a:ext>
            </a:extLst>
          </p:cNvPr>
          <p:cNvSpPr/>
          <p:nvPr/>
        </p:nvSpPr>
        <p:spPr>
          <a:xfrm>
            <a:off x="10166220" y="1481244"/>
            <a:ext cx="433745" cy="433745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7D84E640-CEC9-4456-8BCB-1C9CD42C5622}"/>
              </a:ext>
            </a:extLst>
          </p:cNvPr>
          <p:cNvSpPr/>
          <p:nvPr/>
        </p:nvSpPr>
        <p:spPr>
          <a:xfrm>
            <a:off x="6657248" y="2717351"/>
            <a:ext cx="433745" cy="433745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B0788996-6779-44FE-955E-A514529F7C14}"/>
              </a:ext>
            </a:extLst>
          </p:cNvPr>
          <p:cNvSpPr/>
          <p:nvPr/>
        </p:nvSpPr>
        <p:spPr>
          <a:xfrm>
            <a:off x="7315200" y="1547503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9 restaurant cards</a:t>
            </a:r>
            <a:endParaRPr lang="en-US" sz="1850" dirty="0"/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78785D95-CD2D-45BB-963B-B11FDF5130B3}"/>
              </a:ext>
            </a:extLst>
          </p:cNvPr>
          <p:cNvSpPr/>
          <p:nvPr/>
        </p:nvSpPr>
        <p:spPr>
          <a:xfrm>
            <a:off x="7249340" y="2171362"/>
            <a:ext cx="3071693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 page on EasyDiner platform</a:t>
            </a:r>
            <a:endParaRPr lang="en-US" sz="1500" dirty="0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F6B3F0F0-E603-4622-B899-4E47C6E80077}"/>
              </a:ext>
            </a:extLst>
          </p:cNvPr>
          <p:cNvSpPr/>
          <p:nvPr/>
        </p:nvSpPr>
        <p:spPr>
          <a:xfrm>
            <a:off x="11041042" y="1468612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15 pages per city</a:t>
            </a:r>
            <a:endParaRPr lang="en-US" sz="1850" dirty="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C6CE2527-FF77-41BA-8A43-C8DD13BFA8D9}"/>
              </a:ext>
            </a:extLst>
          </p:cNvPr>
          <p:cNvSpPr/>
          <p:nvPr/>
        </p:nvSpPr>
        <p:spPr>
          <a:xfrm>
            <a:off x="10710107" y="2100607"/>
            <a:ext cx="3071813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Comprehensive coverage across regions</a:t>
            </a:r>
            <a:endParaRPr lang="en-US" sz="1500" dirty="0"/>
          </a:p>
        </p:txBody>
      </p:sp>
      <p:sp>
        <p:nvSpPr>
          <p:cNvPr id="16" name="Text 3">
            <a:extLst>
              <a:ext uri="{FF2B5EF4-FFF2-40B4-BE49-F238E27FC236}">
                <a16:creationId xmlns:a16="http://schemas.microsoft.com/office/drawing/2014/main" id="{8FCBC219-8B7F-406E-847B-D11E93BDFF92}"/>
              </a:ext>
            </a:extLst>
          </p:cNvPr>
          <p:cNvSpPr/>
          <p:nvPr/>
        </p:nvSpPr>
        <p:spPr>
          <a:xfrm>
            <a:off x="6729521" y="1667994"/>
            <a:ext cx="289203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250" dirty="0"/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8996EC20-F690-4506-9270-C941281F3B04}"/>
              </a:ext>
            </a:extLst>
          </p:cNvPr>
          <p:cNvSpPr/>
          <p:nvPr/>
        </p:nvSpPr>
        <p:spPr>
          <a:xfrm>
            <a:off x="10238490" y="1550465"/>
            <a:ext cx="289203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</a:rPr>
              <a:t>2</a:t>
            </a:r>
            <a:endParaRPr lang="en-US" sz="2250" dirty="0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9EDBC8DA-30EC-4388-9794-E3DFA4CCE84D}"/>
              </a:ext>
            </a:extLst>
          </p:cNvPr>
          <p:cNvSpPr/>
          <p:nvPr/>
        </p:nvSpPr>
        <p:spPr>
          <a:xfrm>
            <a:off x="6729520" y="2789622"/>
            <a:ext cx="289203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</a:rPr>
              <a:t>3</a:t>
            </a:r>
            <a:endParaRPr lang="en-US" sz="2250" dirty="0"/>
          </a:p>
        </p:txBody>
      </p:sp>
      <p:sp>
        <p:nvSpPr>
          <p:cNvPr id="19" name="Text 12">
            <a:extLst>
              <a:ext uri="{FF2B5EF4-FFF2-40B4-BE49-F238E27FC236}">
                <a16:creationId xmlns:a16="http://schemas.microsoft.com/office/drawing/2014/main" id="{EEC32D7B-31F4-4547-AE1E-06A68915A67E}"/>
              </a:ext>
            </a:extLst>
          </p:cNvPr>
          <p:cNvSpPr/>
          <p:nvPr/>
        </p:nvSpPr>
        <p:spPr>
          <a:xfrm>
            <a:off x="7315200" y="2756950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 major cities</a:t>
            </a:r>
            <a:endParaRPr lang="en-US" sz="185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00F6163-B3C7-41E4-B584-6E398DACB1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9340" y="3151096"/>
            <a:ext cx="6404733" cy="435071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324D044-5CD3-420B-BAB1-5DA07872D4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55479" y="7590207"/>
            <a:ext cx="2019404" cy="425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9427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CBD4CEF-07A6-49F0-A26D-4033806D9759}"/>
              </a:ext>
            </a:extLst>
          </p:cNvPr>
          <p:cNvSpPr/>
          <p:nvPr/>
        </p:nvSpPr>
        <p:spPr>
          <a:xfrm>
            <a:off x="2258854" y="478870"/>
            <a:ext cx="8828246" cy="844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Arial Black" panose="020B0A04020102020204" pitchFamily="34" charset="0"/>
                <a:ea typeface="Inter Bold" pitchFamily="34" charset="-122"/>
                <a:cs typeface="Inter Bold" pitchFamily="34" charset="-120"/>
              </a:rPr>
              <a:t>Data Features Extracted</a:t>
            </a:r>
            <a:endParaRPr lang="en-US" sz="4400" dirty="0">
              <a:latin typeface="Arial Black" panose="020B0A040201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1C4E08F-9F22-4200-8DD5-6F2BEA4AFC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834" y="1568430"/>
            <a:ext cx="6246345" cy="5679639"/>
          </a:xfrm>
          <a:prstGeom prst="rect">
            <a:avLst/>
          </a:prstGeom>
        </p:spPr>
      </p:pic>
      <p:sp>
        <p:nvSpPr>
          <p:cNvPr id="4" name="Shape 2">
            <a:extLst>
              <a:ext uri="{FF2B5EF4-FFF2-40B4-BE49-F238E27FC236}">
                <a16:creationId xmlns:a16="http://schemas.microsoft.com/office/drawing/2014/main" id="{93B6D268-8632-416F-90BD-E509852565E3}"/>
              </a:ext>
            </a:extLst>
          </p:cNvPr>
          <p:cNvSpPr/>
          <p:nvPr/>
        </p:nvSpPr>
        <p:spPr>
          <a:xfrm>
            <a:off x="7454741" y="1226582"/>
            <a:ext cx="6600825" cy="60960"/>
          </a:xfrm>
          <a:prstGeom prst="roundRect">
            <a:avLst>
              <a:gd name="adj" fmla="val 74538"/>
            </a:avLst>
          </a:prstGeom>
          <a:solidFill>
            <a:srgbClr val="4950BC"/>
          </a:solidFill>
          <a:ln/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7EDECF3-0C6B-4C59-8842-5303606A90C0}"/>
              </a:ext>
            </a:extLst>
          </p:cNvPr>
          <p:cNvSpPr/>
          <p:nvPr/>
        </p:nvSpPr>
        <p:spPr>
          <a:xfrm>
            <a:off x="10592931" y="1079659"/>
            <a:ext cx="324445" cy="324445"/>
          </a:xfrm>
          <a:prstGeom prst="roundRect">
            <a:avLst>
              <a:gd name="adj" fmla="val 281835"/>
            </a:avLst>
          </a:prstGeom>
          <a:solidFill>
            <a:srgbClr val="4950BC"/>
          </a:solidFill>
          <a:ln/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7DB2959-3AB3-4B42-B129-E1885BBD3790}"/>
              </a:ext>
            </a:extLst>
          </p:cNvPr>
          <p:cNvSpPr/>
          <p:nvPr/>
        </p:nvSpPr>
        <p:spPr>
          <a:xfrm>
            <a:off x="10690205" y="1160740"/>
            <a:ext cx="129778" cy="162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8921E15-919D-4642-8FC6-7053AC150F8A}"/>
              </a:ext>
            </a:extLst>
          </p:cNvPr>
          <p:cNvSpPr/>
          <p:nvPr/>
        </p:nvSpPr>
        <p:spPr>
          <a:xfrm>
            <a:off x="7578090" y="1512213"/>
            <a:ext cx="1352312" cy="1690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Restaurant Name</a:t>
            </a:r>
            <a:endParaRPr lang="en-US" sz="20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CB04BD5-9CC1-4AB6-BF48-D496A58DA4D4}"/>
              </a:ext>
            </a:extLst>
          </p:cNvPr>
          <p:cNvSpPr/>
          <p:nvPr/>
        </p:nvSpPr>
        <p:spPr>
          <a:xfrm>
            <a:off x="7578090" y="1789390"/>
            <a:ext cx="6354128" cy="173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Unique identifier for each establishment</a:t>
            </a:r>
            <a:endParaRPr lang="en-US" sz="1400" dirty="0"/>
          </a:p>
        </p:txBody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27706320-CBC4-45E0-879D-D90515FC6208}"/>
              </a:ext>
            </a:extLst>
          </p:cNvPr>
          <p:cNvSpPr/>
          <p:nvPr/>
        </p:nvSpPr>
        <p:spPr>
          <a:xfrm>
            <a:off x="7454741" y="2340888"/>
            <a:ext cx="6600825" cy="60960"/>
          </a:xfrm>
          <a:prstGeom prst="roundRect">
            <a:avLst>
              <a:gd name="adj" fmla="val 74538"/>
            </a:avLst>
          </a:prstGeom>
          <a:solidFill>
            <a:srgbClr val="4950BC"/>
          </a:solidFill>
          <a:ln/>
        </p:spPr>
      </p:sp>
      <p:sp>
        <p:nvSpPr>
          <p:cNvPr id="10" name="Shape 9">
            <a:extLst>
              <a:ext uri="{FF2B5EF4-FFF2-40B4-BE49-F238E27FC236}">
                <a16:creationId xmlns:a16="http://schemas.microsoft.com/office/drawing/2014/main" id="{4770BCAC-F725-4997-9445-3299E6C509F0}"/>
              </a:ext>
            </a:extLst>
          </p:cNvPr>
          <p:cNvSpPr/>
          <p:nvPr/>
        </p:nvSpPr>
        <p:spPr>
          <a:xfrm>
            <a:off x="10592931" y="2193965"/>
            <a:ext cx="324445" cy="324445"/>
          </a:xfrm>
          <a:prstGeom prst="roundRect">
            <a:avLst>
              <a:gd name="adj" fmla="val 281835"/>
            </a:avLst>
          </a:prstGeom>
          <a:solidFill>
            <a:srgbClr val="4950BC"/>
          </a:solidFill>
          <a:ln/>
        </p:spPr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8AF0635C-7D1F-4B6C-8C80-60352ED5EDA5}"/>
              </a:ext>
            </a:extLst>
          </p:cNvPr>
          <p:cNvSpPr/>
          <p:nvPr/>
        </p:nvSpPr>
        <p:spPr>
          <a:xfrm>
            <a:off x="10690205" y="2275046"/>
            <a:ext cx="129778" cy="162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918D7764-FA38-4ECB-90E2-4BE913DA1EC5}"/>
              </a:ext>
            </a:extLst>
          </p:cNvPr>
          <p:cNvSpPr/>
          <p:nvPr/>
        </p:nvSpPr>
        <p:spPr>
          <a:xfrm>
            <a:off x="7578090" y="2626519"/>
            <a:ext cx="1352312" cy="1690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Rating</a:t>
            </a:r>
            <a:endParaRPr lang="en-US" sz="2000" dirty="0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295F6861-16A8-4094-AF0B-626FEF4691AF}"/>
              </a:ext>
            </a:extLst>
          </p:cNvPr>
          <p:cNvSpPr/>
          <p:nvPr/>
        </p:nvSpPr>
        <p:spPr>
          <a:xfrm>
            <a:off x="7578090" y="2903696"/>
            <a:ext cx="6354128" cy="173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satisfaction metric (0-5 scale)</a:t>
            </a:r>
            <a:endParaRPr lang="en-US" sz="1400" dirty="0"/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CB176FBB-D79C-4210-9C5E-A89C4E783CDD}"/>
              </a:ext>
            </a:extLst>
          </p:cNvPr>
          <p:cNvSpPr/>
          <p:nvPr/>
        </p:nvSpPr>
        <p:spPr>
          <a:xfrm>
            <a:off x="7454741" y="3455194"/>
            <a:ext cx="6600825" cy="60960"/>
          </a:xfrm>
          <a:prstGeom prst="roundRect">
            <a:avLst>
              <a:gd name="adj" fmla="val 74538"/>
            </a:avLst>
          </a:prstGeom>
          <a:solidFill>
            <a:srgbClr val="4950BC"/>
          </a:solidFill>
          <a:ln/>
        </p:spPr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ED7F4485-1327-4486-BE3F-A1AF1C60A3FD}"/>
              </a:ext>
            </a:extLst>
          </p:cNvPr>
          <p:cNvSpPr/>
          <p:nvPr/>
        </p:nvSpPr>
        <p:spPr>
          <a:xfrm>
            <a:off x="10592931" y="3308271"/>
            <a:ext cx="324445" cy="324445"/>
          </a:xfrm>
          <a:prstGeom prst="roundRect">
            <a:avLst>
              <a:gd name="adj" fmla="val 281835"/>
            </a:avLst>
          </a:prstGeom>
          <a:solidFill>
            <a:srgbClr val="4950BC"/>
          </a:solidFill>
          <a:ln/>
        </p:spPr>
      </p:sp>
      <p:sp>
        <p:nvSpPr>
          <p:cNvPr id="16" name="Text 16">
            <a:extLst>
              <a:ext uri="{FF2B5EF4-FFF2-40B4-BE49-F238E27FC236}">
                <a16:creationId xmlns:a16="http://schemas.microsoft.com/office/drawing/2014/main" id="{49987319-ADB7-4CF8-AB18-427EEF1C0AD1}"/>
              </a:ext>
            </a:extLst>
          </p:cNvPr>
          <p:cNvSpPr/>
          <p:nvPr/>
        </p:nvSpPr>
        <p:spPr>
          <a:xfrm>
            <a:off x="10690205" y="3389352"/>
            <a:ext cx="129778" cy="162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7">
            <a:extLst>
              <a:ext uri="{FF2B5EF4-FFF2-40B4-BE49-F238E27FC236}">
                <a16:creationId xmlns:a16="http://schemas.microsoft.com/office/drawing/2014/main" id="{7B772DBF-688D-43B2-BED2-78D24F353ED7}"/>
              </a:ext>
            </a:extLst>
          </p:cNvPr>
          <p:cNvSpPr/>
          <p:nvPr/>
        </p:nvSpPr>
        <p:spPr>
          <a:xfrm>
            <a:off x="7578090" y="3740825"/>
            <a:ext cx="1352312" cy="1690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Location</a:t>
            </a:r>
            <a:endParaRPr lang="en-US" sz="2000" dirty="0"/>
          </a:p>
        </p:txBody>
      </p:sp>
      <p:sp>
        <p:nvSpPr>
          <p:cNvPr id="18" name="Text 18">
            <a:extLst>
              <a:ext uri="{FF2B5EF4-FFF2-40B4-BE49-F238E27FC236}">
                <a16:creationId xmlns:a16="http://schemas.microsoft.com/office/drawing/2014/main" id="{CF91087D-E59D-4C30-880A-5AA2BDB7057D}"/>
              </a:ext>
            </a:extLst>
          </p:cNvPr>
          <p:cNvSpPr/>
          <p:nvPr/>
        </p:nvSpPr>
        <p:spPr>
          <a:xfrm>
            <a:off x="7578090" y="4018002"/>
            <a:ext cx="6354128" cy="138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Geographic coordinates and neighborhood details</a:t>
            </a:r>
            <a:endParaRPr lang="en-US" sz="1400" dirty="0"/>
          </a:p>
        </p:txBody>
      </p:sp>
      <p:sp>
        <p:nvSpPr>
          <p:cNvPr id="19" name="Shape 20">
            <a:extLst>
              <a:ext uri="{FF2B5EF4-FFF2-40B4-BE49-F238E27FC236}">
                <a16:creationId xmlns:a16="http://schemas.microsoft.com/office/drawing/2014/main" id="{3449D6B1-EFCB-41E4-88CB-5FE6C51248BE}"/>
              </a:ext>
            </a:extLst>
          </p:cNvPr>
          <p:cNvSpPr/>
          <p:nvPr/>
        </p:nvSpPr>
        <p:spPr>
          <a:xfrm>
            <a:off x="7454741" y="4569500"/>
            <a:ext cx="6600825" cy="60960"/>
          </a:xfrm>
          <a:prstGeom prst="roundRect">
            <a:avLst>
              <a:gd name="adj" fmla="val 74538"/>
            </a:avLst>
          </a:prstGeom>
          <a:solidFill>
            <a:srgbClr val="4950BC"/>
          </a:solidFill>
          <a:ln/>
        </p:spPr>
      </p:sp>
      <p:sp>
        <p:nvSpPr>
          <p:cNvPr id="20" name="Shape 21">
            <a:extLst>
              <a:ext uri="{FF2B5EF4-FFF2-40B4-BE49-F238E27FC236}">
                <a16:creationId xmlns:a16="http://schemas.microsoft.com/office/drawing/2014/main" id="{35D57E17-83C6-4E50-AE00-C34F5794D260}"/>
              </a:ext>
            </a:extLst>
          </p:cNvPr>
          <p:cNvSpPr/>
          <p:nvPr/>
        </p:nvSpPr>
        <p:spPr>
          <a:xfrm>
            <a:off x="10592931" y="4422577"/>
            <a:ext cx="324445" cy="324445"/>
          </a:xfrm>
          <a:prstGeom prst="roundRect">
            <a:avLst>
              <a:gd name="adj" fmla="val 281835"/>
            </a:avLst>
          </a:prstGeom>
          <a:solidFill>
            <a:srgbClr val="4950BC"/>
          </a:solidFill>
          <a:ln/>
        </p:spPr>
      </p:sp>
      <p:sp>
        <p:nvSpPr>
          <p:cNvPr id="21" name="Text 22">
            <a:extLst>
              <a:ext uri="{FF2B5EF4-FFF2-40B4-BE49-F238E27FC236}">
                <a16:creationId xmlns:a16="http://schemas.microsoft.com/office/drawing/2014/main" id="{F34B308E-0C44-4EA2-92A5-C8F34C8E823C}"/>
              </a:ext>
            </a:extLst>
          </p:cNvPr>
          <p:cNvSpPr/>
          <p:nvPr/>
        </p:nvSpPr>
        <p:spPr>
          <a:xfrm>
            <a:off x="10690205" y="4503658"/>
            <a:ext cx="129778" cy="162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23">
            <a:extLst>
              <a:ext uri="{FF2B5EF4-FFF2-40B4-BE49-F238E27FC236}">
                <a16:creationId xmlns:a16="http://schemas.microsoft.com/office/drawing/2014/main" id="{FC63AC99-B532-47AA-AC1D-FC542B1FDA68}"/>
              </a:ext>
            </a:extLst>
          </p:cNvPr>
          <p:cNvSpPr/>
          <p:nvPr/>
        </p:nvSpPr>
        <p:spPr>
          <a:xfrm>
            <a:off x="7578090" y="4855131"/>
            <a:ext cx="1352312" cy="1690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Cuisine Type</a:t>
            </a:r>
            <a:endParaRPr lang="en-US" sz="2000" dirty="0"/>
          </a:p>
        </p:txBody>
      </p:sp>
      <p:sp>
        <p:nvSpPr>
          <p:cNvPr id="23" name="Text 24">
            <a:extLst>
              <a:ext uri="{FF2B5EF4-FFF2-40B4-BE49-F238E27FC236}">
                <a16:creationId xmlns:a16="http://schemas.microsoft.com/office/drawing/2014/main" id="{B0166347-1674-4406-A9CE-EC3160435FD5}"/>
              </a:ext>
            </a:extLst>
          </p:cNvPr>
          <p:cNvSpPr/>
          <p:nvPr/>
        </p:nvSpPr>
        <p:spPr>
          <a:xfrm>
            <a:off x="7578090" y="5132308"/>
            <a:ext cx="6354128" cy="173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Categories served (Indian, Chinese, Continental, etc.)</a:t>
            </a:r>
            <a:endParaRPr lang="en-US" sz="1400" dirty="0"/>
          </a:p>
        </p:txBody>
      </p:sp>
      <p:sp>
        <p:nvSpPr>
          <p:cNvPr id="24" name="Shape 26">
            <a:extLst>
              <a:ext uri="{FF2B5EF4-FFF2-40B4-BE49-F238E27FC236}">
                <a16:creationId xmlns:a16="http://schemas.microsoft.com/office/drawing/2014/main" id="{4888A329-6D83-43EA-B79F-5FE73C48AB01}"/>
              </a:ext>
            </a:extLst>
          </p:cNvPr>
          <p:cNvSpPr/>
          <p:nvPr/>
        </p:nvSpPr>
        <p:spPr>
          <a:xfrm>
            <a:off x="7454741" y="5683806"/>
            <a:ext cx="6600825" cy="60960"/>
          </a:xfrm>
          <a:prstGeom prst="roundRect">
            <a:avLst>
              <a:gd name="adj" fmla="val 74538"/>
            </a:avLst>
          </a:prstGeom>
          <a:solidFill>
            <a:srgbClr val="4950BC"/>
          </a:solidFill>
          <a:ln/>
        </p:spPr>
      </p:sp>
      <p:sp>
        <p:nvSpPr>
          <p:cNvPr id="25" name="Shape 27">
            <a:extLst>
              <a:ext uri="{FF2B5EF4-FFF2-40B4-BE49-F238E27FC236}">
                <a16:creationId xmlns:a16="http://schemas.microsoft.com/office/drawing/2014/main" id="{06A2FC96-F84A-42C5-8F34-C94CC2D75BF4}"/>
              </a:ext>
            </a:extLst>
          </p:cNvPr>
          <p:cNvSpPr/>
          <p:nvPr/>
        </p:nvSpPr>
        <p:spPr>
          <a:xfrm>
            <a:off x="10592931" y="5536883"/>
            <a:ext cx="324445" cy="324445"/>
          </a:xfrm>
          <a:prstGeom prst="roundRect">
            <a:avLst>
              <a:gd name="adj" fmla="val 281835"/>
            </a:avLst>
          </a:prstGeom>
          <a:solidFill>
            <a:srgbClr val="4950BC"/>
          </a:solidFill>
          <a:ln/>
        </p:spPr>
      </p:sp>
      <p:sp>
        <p:nvSpPr>
          <p:cNvPr id="26" name="Text 28">
            <a:extLst>
              <a:ext uri="{FF2B5EF4-FFF2-40B4-BE49-F238E27FC236}">
                <a16:creationId xmlns:a16="http://schemas.microsoft.com/office/drawing/2014/main" id="{37308682-E756-4720-9F99-EEFC6AF45696}"/>
              </a:ext>
            </a:extLst>
          </p:cNvPr>
          <p:cNvSpPr/>
          <p:nvPr/>
        </p:nvSpPr>
        <p:spPr>
          <a:xfrm>
            <a:off x="10690205" y="5617964"/>
            <a:ext cx="129778" cy="162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9">
            <a:extLst>
              <a:ext uri="{FF2B5EF4-FFF2-40B4-BE49-F238E27FC236}">
                <a16:creationId xmlns:a16="http://schemas.microsoft.com/office/drawing/2014/main" id="{98024AD0-809A-4FB3-BB4C-A4FCAA575CE5}"/>
              </a:ext>
            </a:extLst>
          </p:cNvPr>
          <p:cNvSpPr/>
          <p:nvPr/>
        </p:nvSpPr>
        <p:spPr>
          <a:xfrm>
            <a:off x="7578090" y="5969437"/>
            <a:ext cx="1352312" cy="1690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Cost Range</a:t>
            </a:r>
            <a:endParaRPr lang="en-US" sz="2000" dirty="0"/>
          </a:p>
        </p:txBody>
      </p:sp>
      <p:sp>
        <p:nvSpPr>
          <p:cNvPr id="28" name="Text 30">
            <a:extLst>
              <a:ext uri="{FF2B5EF4-FFF2-40B4-BE49-F238E27FC236}">
                <a16:creationId xmlns:a16="http://schemas.microsoft.com/office/drawing/2014/main" id="{78C9D3EF-FB6A-4FA6-935E-4F1E9A916594}"/>
              </a:ext>
            </a:extLst>
          </p:cNvPr>
          <p:cNvSpPr/>
          <p:nvPr/>
        </p:nvSpPr>
        <p:spPr>
          <a:xfrm>
            <a:off x="7578090" y="6246614"/>
            <a:ext cx="6354128" cy="173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Approximate per-person pricing</a:t>
            </a:r>
            <a:endParaRPr lang="en-US" sz="1400" dirty="0"/>
          </a:p>
        </p:txBody>
      </p:sp>
      <p:sp>
        <p:nvSpPr>
          <p:cNvPr id="29" name="Shape 32">
            <a:extLst>
              <a:ext uri="{FF2B5EF4-FFF2-40B4-BE49-F238E27FC236}">
                <a16:creationId xmlns:a16="http://schemas.microsoft.com/office/drawing/2014/main" id="{64E842E2-273C-4E7F-BF79-CC6FAE712FD0}"/>
              </a:ext>
            </a:extLst>
          </p:cNvPr>
          <p:cNvSpPr/>
          <p:nvPr/>
        </p:nvSpPr>
        <p:spPr>
          <a:xfrm>
            <a:off x="7454741" y="6798112"/>
            <a:ext cx="6600825" cy="60960"/>
          </a:xfrm>
          <a:prstGeom prst="roundRect">
            <a:avLst>
              <a:gd name="adj" fmla="val 74538"/>
            </a:avLst>
          </a:prstGeom>
          <a:solidFill>
            <a:srgbClr val="4950BC"/>
          </a:solidFill>
          <a:ln/>
        </p:spPr>
      </p:sp>
      <p:sp>
        <p:nvSpPr>
          <p:cNvPr id="30" name="Shape 33">
            <a:extLst>
              <a:ext uri="{FF2B5EF4-FFF2-40B4-BE49-F238E27FC236}">
                <a16:creationId xmlns:a16="http://schemas.microsoft.com/office/drawing/2014/main" id="{1255D230-20BF-4DD4-9297-5752D9D7E5CA}"/>
              </a:ext>
            </a:extLst>
          </p:cNvPr>
          <p:cNvSpPr/>
          <p:nvPr/>
        </p:nvSpPr>
        <p:spPr>
          <a:xfrm>
            <a:off x="10592931" y="6651188"/>
            <a:ext cx="324445" cy="324445"/>
          </a:xfrm>
          <a:prstGeom prst="roundRect">
            <a:avLst>
              <a:gd name="adj" fmla="val 281835"/>
            </a:avLst>
          </a:prstGeom>
          <a:solidFill>
            <a:srgbClr val="4950BC"/>
          </a:solidFill>
          <a:ln/>
        </p:spPr>
      </p:sp>
      <p:sp>
        <p:nvSpPr>
          <p:cNvPr id="31" name="Text 34">
            <a:extLst>
              <a:ext uri="{FF2B5EF4-FFF2-40B4-BE49-F238E27FC236}">
                <a16:creationId xmlns:a16="http://schemas.microsoft.com/office/drawing/2014/main" id="{3B23E6EA-1020-4718-9D18-3D35E9D4BCD8}"/>
              </a:ext>
            </a:extLst>
          </p:cNvPr>
          <p:cNvSpPr/>
          <p:nvPr/>
        </p:nvSpPr>
        <p:spPr>
          <a:xfrm>
            <a:off x="10690205" y="6732270"/>
            <a:ext cx="129778" cy="162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</a:t>
            </a:r>
            <a:endParaRPr lang="en-US" sz="1000" dirty="0"/>
          </a:p>
        </p:txBody>
      </p:sp>
      <p:sp>
        <p:nvSpPr>
          <p:cNvPr id="32" name="Text 35">
            <a:extLst>
              <a:ext uri="{FF2B5EF4-FFF2-40B4-BE49-F238E27FC236}">
                <a16:creationId xmlns:a16="http://schemas.microsoft.com/office/drawing/2014/main" id="{88EBF0D8-A777-4AB6-BFF5-74FE17F4A16E}"/>
              </a:ext>
            </a:extLst>
          </p:cNvPr>
          <p:cNvSpPr/>
          <p:nvPr/>
        </p:nvSpPr>
        <p:spPr>
          <a:xfrm>
            <a:off x="7578090" y="7083743"/>
            <a:ext cx="1352312" cy="1690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Discount Offered</a:t>
            </a:r>
            <a:endParaRPr lang="en-US" sz="2000" dirty="0"/>
          </a:p>
        </p:txBody>
      </p:sp>
      <p:sp>
        <p:nvSpPr>
          <p:cNvPr id="33" name="Text 36">
            <a:extLst>
              <a:ext uri="{FF2B5EF4-FFF2-40B4-BE49-F238E27FC236}">
                <a16:creationId xmlns:a16="http://schemas.microsoft.com/office/drawing/2014/main" id="{B09276F0-4E91-4192-BD1D-126593A39B28}"/>
              </a:ext>
            </a:extLst>
          </p:cNvPr>
          <p:cNvSpPr/>
          <p:nvPr/>
        </p:nvSpPr>
        <p:spPr>
          <a:xfrm>
            <a:off x="7578090" y="7360920"/>
            <a:ext cx="6354128" cy="173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promotional rates and deals</a:t>
            </a:r>
            <a:endParaRPr lang="en-US" sz="14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5096FEF2-1B44-4271-938D-346109D015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55479" y="7590207"/>
            <a:ext cx="2019404" cy="425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1579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0A5437C-321F-41BF-9308-7C04D86FFA47}"/>
              </a:ext>
            </a:extLst>
          </p:cNvPr>
          <p:cNvSpPr/>
          <p:nvPr/>
        </p:nvSpPr>
        <p:spPr>
          <a:xfrm>
            <a:off x="491924" y="352817"/>
            <a:ext cx="13924345" cy="951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IN" sz="4400" dirty="0">
                <a:latin typeface="Arial Black" panose="020B0A04020102020204" pitchFamily="34" charset="0"/>
              </a:rPr>
              <a:t>INITIAL SCRAPED DATASET OVERVIEW</a:t>
            </a:r>
            <a:endParaRPr lang="en-US" sz="4400" dirty="0">
              <a:latin typeface="Arial Black" panose="020B0A040201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47F438C-2915-403E-AC9B-CC21A2A4EC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165" y="1515887"/>
            <a:ext cx="13255862" cy="556131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ABC3B9A-A528-48A0-AA64-ADF7B61940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55479" y="7590207"/>
            <a:ext cx="2019404" cy="425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4241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311602" y="602203"/>
            <a:ext cx="12720577" cy="1041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00" b="0" i="0" dirty="0">
                <a:effectLst/>
                <a:latin typeface="Arial Black" panose="020B0A04020102020204" pitchFamily="34" charset="0"/>
              </a:rPr>
              <a:t>CLEAN </a:t>
            </a:r>
            <a:r>
              <a:rPr lang="en-US" sz="4400" dirty="0">
                <a:latin typeface="Arial Black" panose="020B0A04020102020204" pitchFamily="34" charset="0"/>
              </a:rPr>
              <a:t>DATA READY FOR ANALYSIS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AEECFF-6E7A-43E2-A692-CE5DA24DD2EF}"/>
              </a:ext>
            </a:extLst>
          </p:cNvPr>
          <p:cNvSpPr/>
          <p:nvPr/>
        </p:nvSpPr>
        <p:spPr>
          <a:xfrm>
            <a:off x="12824749" y="7361499"/>
            <a:ext cx="1713054" cy="77550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89FE84-504C-4B6E-AE31-6D116458EE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02" y="1664365"/>
            <a:ext cx="12720576" cy="54656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11FE1D0-FDF1-4CCE-8C3C-1FF27200CD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55479" y="7590207"/>
            <a:ext cx="2019404" cy="42547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9456074" y="2116118"/>
            <a:ext cx="4711700" cy="1578864"/>
          </a:xfrm>
          <a:custGeom>
            <a:avLst/>
            <a:gdLst/>
            <a:ahLst/>
            <a:cxnLst/>
            <a:rect l="l" t="t" r="r" b="b"/>
            <a:pathLst>
              <a:path w="5889625" h="1973579">
                <a:moveTo>
                  <a:pt x="5403700" y="1973288"/>
                </a:moveTo>
                <a:lnTo>
                  <a:pt x="485775" y="1973288"/>
                </a:lnTo>
                <a:lnTo>
                  <a:pt x="437762" y="1970911"/>
                </a:lnTo>
                <a:lnTo>
                  <a:pt x="390562" y="1963868"/>
                </a:lnTo>
                <a:lnTo>
                  <a:pt x="344494" y="1952291"/>
                </a:lnTo>
                <a:lnTo>
                  <a:pt x="299877" y="1936311"/>
                </a:lnTo>
                <a:lnTo>
                  <a:pt x="257028" y="1916061"/>
                </a:lnTo>
                <a:lnTo>
                  <a:pt x="216266" y="1891672"/>
                </a:lnTo>
                <a:lnTo>
                  <a:pt x="177911" y="1863277"/>
                </a:lnTo>
                <a:lnTo>
                  <a:pt x="142280" y="1831008"/>
                </a:lnTo>
                <a:lnTo>
                  <a:pt x="110011" y="1795377"/>
                </a:lnTo>
                <a:lnTo>
                  <a:pt x="81616" y="1757021"/>
                </a:lnTo>
                <a:lnTo>
                  <a:pt x="57227" y="1716260"/>
                </a:lnTo>
                <a:lnTo>
                  <a:pt x="36977" y="1673411"/>
                </a:lnTo>
                <a:lnTo>
                  <a:pt x="20997" y="1628793"/>
                </a:lnTo>
                <a:lnTo>
                  <a:pt x="9420" y="1582726"/>
                </a:lnTo>
                <a:lnTo>
                  <a:pt x="2377" y="1535526"/>
                </a:lnTo>
                <a:lnTo>
                  <a:pt x="0" y="1487513"/>
                </a:lnTo>
                <a:lnTo>
                  <a:pt x="0" y="485775"/>
                </a:lnTo>
                <a:lnTo>
                  <a:pt x="2377" y="437762"/>
                </a:lnTo>
                <a:lnTo>
                  <a:pt x="9420" y="390562"/>
                </a:lnTo>
                <a:lnTo>
                  <a:pt x="20997" y="344494"/>
                </a:lnTo>
                <a:lnTo>
                  <a:pt x="36977" y="299876"/>
                </a:lnTo>
                <a:lnTo>
                  <a:pt x="57227" y="257028"/>
                </a:lnTo>
                <a:lnTo>
                  <a:pt x="81616" y="216266"/>
                </a:lnTo>
                <a:lnTo>
                  <a:pt x="110011" y="177911"/>
                </a:lnTo>
                <a:lnTo>
                  <a:pt x="142280" y="142280"/>
                </a:lnTo>
                <a:lnTo>
                  <a:pt x="177911" y="110010"/>
                </a:lnTo>
                <a:lnTo>
                  <a:pt x="216266" y="81615"/>
                </a:lnTo>
                <a:lnTo>
                  <a:pt x="257028" y="57227"/>
                </a:lnTo>
                <a:lnTo>
                  <a:pt x="299877" y="36977"/>
                </a:lnTo>
                <a:lnTo>
                  <a:pt x="344494" y="20997"/>
                </a:lnTo>
                <a:lnTo>
                  <a:pt x="390562" y="9420"/>
                </a:lnTo>
                <a:lnTo>
                  <a:pt x="437762" y="2377"/>
                </a:lnTo>
                <a:lnTo>
                  <a:pt x="485775" y="0"/>
                </a:lnTo>
                <a:lnTo>
                  <a:pt x="5403700" y="0"/>
                </a:lnTo>
                <a:lnTo>
                  <a:pt x="5451713" y="2377"/>
                </a:lnTo>
                <a:lnTo>
                  <a:pt x="5498913" y="9420"/>
                </a:lnTo>
                <a:lnTo>
                  <a:pt x="5544981" y="20997"/>
                </a:lnTo>
                <a:lnTo>
                  <a:pt x="5589599" y="36977"/>
                </a:lnTo>
                <a:lnTo>
                  <a:pt x="5632448" y="57227"/>
                </a:lnTo>
                <a:lnTo>
                  <a:pt x="5673209" y="81615"/>
                </a:lnTo>
                <a:lnTo>
                  <a:pt x="5711564" y="110010"/>
                </a:lnTo>
                <a:lnTo>
                  <a:pt x="5747196" y="142280"/>
                </a:lnTo>
                <a:lnTo>
                  <a:pt x="5779465" y="177911"/>
                </a:lnTo>
                <a:lnTo>
                  <a:pt x="5807859" y="216266"/>
                </a:lnTo>
                <a:lnTo>
                  <a:pt x="5832248" y="257028"/>
                </a:lnTo>
                <a:lnTo>
                  <a:pt x="5852498" y="299876"/>
                </a:lnTo>
                <a:lnTo>
                  <a:pt x="5868477" y="344494"/>
                </a:lnTo>
                <a:lnTo>
                  <a:pt x="5880055" y="390562"/>
                </a:lnTo>
                <a:lnTo>
                  <a:pt x="5887098" y="437762"/>
                </a:lnTo>
                <a:lnTo>
                  <a:pt x="5889033" y="476831"/>
                </a:lnTo>
                <a:lnTo>
                  <a:pt x="5889033" y="1496456"/>
                </a:lnTo>
                <a:lnTo>
                  <a:pt x="5887098" y="1535526"/>
                </a:lnTo>
                <a:lnTo>
                  <a:pt x="5880055" y="1582726"/>
                </a:lnTo>
                <a:lnTo>
                  <a:pt x="5868477" y="1628793"/>
                </a:lnTo>
                <a:lnTo>
                  <a:pt x="5852498" y="1673411"/>
                </a:lnTo>
                <a:lnTo>
                  <a:pt x="5832248" y="1716260"/>
                </a:lnTo>
                <a:lnTo>
                  <a:pt x="5807859" y="1757021"/>
                </a:lnTo>
                <a:lnTo>
                  <a:pt x="5779465" y="1795377"/>
                </a:lnTo>
                <a:lnTo>
                  <a:pt x="5747196" y="1831008"/>
                </a:lnTo>
                <a:lnTo>
                  <a:pt x="5711564" y="1863277"/>
                </a:lnTo>
                <a:lnTo>
                  <a:pt x="5673209" y="1891672"/>
                </a:lnTo>
                <a:lnTo>
                  <a:pt x="5632448" y="1916061"/>
                </a:lnTo>
                <a:lnTo>
                  <a:pt x="5589599" y="1936311"/>
                </a:lnTo>
                <a:lnTo>
                  <a:pt x="5544981" y="1952291"/>
                </a:lnTo>
                <a:lnTo>
                  <a:pt x="5498913" y="1963868"/>
                </a:lnTo>
                <a:lnTo>
                  <a:pt x="5451713" y="1970911"/>
                </a:lnTo>
                <a:lnTo>
                  <a:pt x="5403700" y="1973288"/>
                </a:ln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</p:spPr>
        <p:txBody>
          <a:bodyPr wrap="square" lIns="0" tIns="0" rIns="0" bIns="0" rtlCol="0"/>
          <a:lstStyle/>
          <a:p>
            <a:endParaRPr sz="1440"/>
          </a:p>
        </p:txBody>
      </p:sp>
      <p:sp>
        <p:nvSpPr>
          <p:cNvPr id="10" name="object 10"/>
          <p:cNvSpPr txBox="1"/>
          <p:nvPr/>
        </p:nvSpPr>
        <p:spPr>
          <a:xfrm>
            <a:off x="9685940" y="1449427"/>
            <a:ext cx="4361688" cy="618118"/>
          </a:xfrm>
          <a:prstGeom prst="rect">
            <a:avLst/>
          </a:prstGeom>
        </p:spPr>
        <p:txBody>
          <a:bodyPr vert="horz" wrap="square" lIns="0" tIns="209804" rIns="0" bIns="0" rtlCol="0">
            <a:spAutoFit/>
          </a:bodyPr>
          <a:lstStyle/>
          <a:p>
            <a:pPr marL="10160">
              <a:spcBef>
                <a:spcPts val="1652"/>
              </a:spcBef>
            </a:pPr>
            <a:r>
              <a:rPr sz="2640" spc="-68" dirty="0">
                <a:solidFill>
                  <a:schemeClr val="accent5">
                    <a:lumMod val="50000"/>
                  </a:schemeClr>
                </a:solidFill>
                <a:latin typeface="Arial Black"/>
                <a:cs typeface="Arial Black"/>
              </a:rPr>
              <a:t>Insight:</a:t>
            </a:r>
            <a:endParaRPr sz="2640" dirty="0">
              <a:solidFill>
                <a:schemeClr val="accent5">
                  <a:lumMod val="50000"/>
                </a:schemeClr>
              </a:solidFill>
              <a:latin typeface="Arial Black"/>
              <a:cs typeface="Arial Black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CF868B8-83D0-4672-BE77-696C9DA9F0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55479" y="7590207"/>
            <a:ext cx="2019404" cy="42547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4EBDEFF-9B66-4DCA-915F-9245494BBB1F}"/>
              </a:ext>
            </a:extLst>
          </p:cNvPr>
          <p:cNvSpPr txBox="1"/>
          <p:nvPr/>
        </p:nvSpPr>
        <p:spPr>
          <a:xfrm>
            <a:off x="506627" y="337771"/>
            <a:ext cx="13814853" cy="100089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3E2EE24-3543-4220-AA77-4FF6AB3069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083" y="2091137"/>
            <a:ext cx="7782610" cy="4921762"/>
          </a:xfrm>
          <a:prstGeom prst="rect">
            <a:avLst/>
          </a:prstGeom>
        </p:spPr>
      </p:pic>
      <p:sp>
        <p:nvSpPr>
          <p:cNvPr id="15" name="TextBox 27">
            <a:extLst>
              <a:ext uri="{FF2B5EF4-FFF2-40B4-BE49-F238E27FC236}">
                <a16:creationId xmlns:a16="http://schemas.microsoft.com/office/drawing/2014/main" id="{ABB41A0B-88D0-42B1-8E5D-3E89145A232C}"/>
              </a:ext>
            </a:extLst>
          </p:cNvPr>
          <p:cNvSpPr txBox="1"/>
          <p:nvPr/>
        </p:nvSpPr>
        <p:spPr>
          <a:xfrm>
            <a:off x="9653286" y="2473016"/>
            <a:ext cx="4346031" cy="6251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44"/>
              </a:lnSpc>
              <a:spcBef>
                <a:spcPct val="0"/>
              </a:spcBef>
            </a:pPr>
            <a:r>
              <a:rPr lang="en-US" b="1" dirty="0">
                <a:solidFill>
                  <a:srgbClr val="373739"/>
                </a:solidFill>
                <a:ea typeface="Futura"/>
                <a:cs typeface="Futura"/>
                <a:sym typeface="Futura"/>
              </a:rPr>
              <a:t>Most restaurants are well-rated between 4.0–5.0, showing high customer satisfaction and very few low-rated places.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43344F2-FEA5-42A0-8ED1-E656F62C902A}"/>
              </a:ext>
            </a:extLst>
          </p:cNvPr>
          <p:cNvSpPr txBox="1"/>
          <p:nvPr/>
        </p:nvSpPr>
        <p:spPr>
          <a:xfrm>
            <a:off x="1536700" y="406400"/>
            <a:ext cx="120015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dirty="0">
                <a:latin typeface="Arial Black" panose="020B0A04020102020204" pitchFamily="34" charset="0"/>
              </a:rPr>
              <a:t>VALUE COUNT OF  NUMERICAL COLUMNS </a:t>
            </a:r>
            <a:endParaRPr lang="en-US" sz="4000" b="1" dirty="0">
              <a:latin typeface="Arial Black" panose="020B0A04020102020204" pitchFamily="34" charset="0"/>
              <a:ea typeface="Heading Now 61-68 Bold"/>
              <a:cs typeface="Heading Now 61-68 Bold"/>
              <a:sym typeface="Heading Now 61-68 Bold"/>
            </a:endParaRPr>
          </a:p>
          <a:p>
            <a:pPr algn="ctr"/>
            <a:endParaRPr lang="en-IN" sz="40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63CF008-7DF2-478A-9D07-CCDCB4DB76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1269" y="4114800"/>
            <a:ext cx="3080956" cy="2898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1570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23900" y="201415"/>
            <a:ext cx="13271499" cy="834085"/>
            <a:chOff x="0" y="0"/>
            <a:chExt cx="3395109" cy="25790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395109" cy="257901"/>
            </a:xfrm>
            <a:custGeom>
              <a:avLst/>
              <a:gdLst/>
              <a:ahLst/>
              <a:cxnLst/>
              <a:rect l="l" t="t" r="r" b="b"/>
              <a:pathLst>
                <a:path w="3395109" h="257901">
                  <a:moveTo>
                    <a:pt x="18061" y="0"/>
                  </a:moveTo>
                  <a:lnTo>
                    <a:pt x="3377048" y="0"/>
                  </a:lnTo>
                  <a:cubicBezTo>
                    <a:pt x="3381838" y="0"/>
                    <a:pt x="3386432" y="1903"/>
                    <a:pt x="3389819" y="5290"/>
                  </a:cubicBezTo>
                  <a:cubicBezTo>
                    <a:pt x="3393206" y="8677"/>
                    <a:pt x="3395109" y="13271"/>
                    <a:pt x="3395109" y="18061"/>
                  </a:cubicBezTo>
                  <a:lnTo>
                    <a:pt x="3395109" y="239839"/>
                  </a:lnTo>
                  <a:cubicBezTo>
                    <a:pt x="3395109" y="244629"/>
                    <a:pt x="3393206" y="249223"/>
                    <a:pt x="3389819" y="252610"/>
                  </a:cubicBezTo>
                  <a:cubicBezTo>
                    <a:pt x="3386432" y="255998"/>
                    <a:pt x="3381838" y="257901"/>
                    <a:pt x="3377048" y="257901"/>
                  </a:cubicBezTo>
                  <a:lnTo>
                    <a:pt x="18061" y="257901"/>
                  </a:lnTo>
                  <a:cubicBezTo>
                    <a:pt x="13271" y="257901"/>
                    <a:pt x="8677" y="255998"/>
                    <a:pt x="5290" y="252610"/>
                  </a:cubicBezTo>
                  <a:cubicBezTo>
                    <a:pt x="1903" y="249223"/>
                    <a:pt x="0" y="244629"/>
                    <a:pt x="0" y="239839"/>
                  </a:cubicBezTo>
                  <a:lnTo>
                    <a:pt x="0" y="18061"/>
                  </a:lnTo>
                  <a:cubicBezTo>
                    <a:pt x="0" y="13271"/>
                    <a:pt x="1903" y="8677"/>
                    <a:pt x="5290" y="5290"/>
                  </a:cubicBezTo>
                  <a:cubicBezTo>
                    <a:pt x="8677" y="1903"/>
                    <a:pt x="13271" y="0"/>
                    <a:pt x="18061" y="0"/>
                  </a:cubicBezTo>
                  <a:close/>
                </a:path>
              </a:pathLst>
            </a:custGeom>
            <a:solidFill>
              <a:srgbClr val="FFD3D3"/>
            </a:solidFill>
            <a:ln w="9525" cap="sq">
              <a:solidFill>
                <a:srgbClr val="C6E9FF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3395109" cy="276951"/>
            </a:xfrm>
            <a:prstGeom prst="rect">
              <a:avLst/>
            </a:prstGeom>
          </p:spPr>
          <p:txBody>
            <a:bodyPr lIns="57150" tIns="57150" rIns="57150" bIns="57150" rtlCol="0" anchor="ctr"/>
            <a:lstStyle/>
            <a:p>
              <a:pPr algn="ctr">
                <a:lnSpc>
                  <a:spcPts val="630"/>
                </a:lnSpc>
              </a:pPr>
              <a:endParaRPr sz="2025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828801" y="428626"/>
            <a:ext cx="10972799" cy="4814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43"/>
              </a:lnSpc>
            </a:pPr>
            <a:r>
              <a:rPr lang="en-US" sz="4000" b="1" dirty="0">
                <a:latin typeface="Arial Black" panose="020B0A04020102020204" pitchFamily="34" charset="0"/>
                <a:ea typeface="Inter Bold" panose="020B0604020202020204" charset="0"/>
                <a:cs typeface="Inter Bold"/>
                <a:sym typeface="Inter Bold"/>
              </a:rPr>
              <a:t>TOP 10 DISHES DISTRIBUTION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9945666" y="1262711"/>
            <a:ext cx="4238423" cy="3731990"/>
            <a:chOff x="0" y="0"/>
            <a:chExt cx="1087484" cy="93244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87484" cy="932443"/>
            </a:xfrm>
            <a:custGeom>
              <a:avLst/>
              <a:gdLst/>
              <a:ahLst/>
              <a:cxnLst/>
              <a:rect l="l" t="t" r="r" b="b"/>
              <a:pathLst>
                <a:path w="1087484" h="932443">
                  <a:moveTo>
                    <a:pt x="56387" y="0"/>
                  </a:moveTo>
                  <a:lnTo>
                    <a:pt x="1031096" y="0"/>
                  </a:lnTo>
                  <a:cubicBezTo>
                    <a:pt x="1062238" y="0"/>
                    <a:pt x="1087484" y="25246"/>
                    <a:pt x="1087484" y="56387"/>
                  </a:cubicBezTo>
                  <a:lnTo>
                    <a:pt x="1087484" y="876056"/>
                  </a:lnTo>
                  <a:cubicBezTo>
                    <a:pt x="1087484" y="907198"/>
                    <a:pt x="1062238" y="932443"/>
                    <a:pt x="1031096" y="932443"/>
                  </a:cubicBezTo>
                  <a:lnTo>
                    <a:pt x="56387" y="932443"/>
                  </a:lnTo>
                  <a:cubicBezTo>
                    <a:pt x="41433" y="932443"/>
                    <a:pt x="27090" y="926502"/>
                    <a:pt x="16515" y="915928"/>
                  </a:cubicBezTo>
                  <a:cubicBezTo>
                    <a:pt x="5941" y="905353"/>
                    <a:pt x="0" y="891011"/>
                    <a:pt x="0" y="876056"/>
                  </a:cubicBezTo>
                  <a:lnTo>
                    <a:pt x="0" y="56387"/>
                  </a:lnTo>
                  <a:cubicBezTo>
                    <a:pt x="0" y="25246"/>
                    <a:pt x="25246" y="0"/>
                    <a:pt x="56387" y="0"/>
                  </a:cubicBezTo>
                  <a:close/>
                </a:path>
              </a:pathLst>
            </a:custGeom>
            <a:solidFill>
              <a:srgbClr val="FFD3D3"/>
            </a:solidFill>
            <a:ln w="9525" cap="sq">
              <a:solidFill>
                <a:srgbClr val="C6E9FF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1087484" cy="951493"/>
            </a:xfrm>
            <a:prstGeom prst="rect">
              <a:avLst/>
            </a:prstGeom>
          </p:spPr>
          <p:txBody>
            <a:bodyPr lIns="57150" tIns="57150" rIns="57150" bIns="57150" rtlCol="0" anchor="ctr"/>
            <a:lstStyle/>
            <a:p>
              <a:pPr algn="ctr">
                <a:lnSpc>
                  <a:spcPts val="630"/>
                </a:lnSpc>
              </a:pPr>
              <a:endParaRPr sz="2025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0613700" y="1685078"/>
            <a:ext cx="2977620" cy="387235"/>
            <a:chOff x="0" y="0"/>
            <a:chExt cx="980286" cy="12748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80286" cy="127485"/>
            </a:xfrm>
            <a:custGeom>
              <a:avLst/>
              <a:gdLst/>
              <a:ahLst/>
              <a:cxnLst/>
              <a:rect l="l" t="t" r="r" b="b"/>
              <a:pathLst>
                <a:path w="980286" h="127485">
                  <a:moveTo>
                    <a:pt x="49726" y="0"/>
                  </a:moveTo>
                  <a:lnTo>
                    <a:pt x="930561" y="0"/>
                  </a:lnTo>
                  <a:cubicBezTo>
                    <a:pt x="943749" y="0"/>
                    <a:pt x="956397" y="5239"/>
                    <a:pt x="965722" y="14564"/>
                  </a:cubicBezTo>
                  <a:cubicBezTo>
                    <a:pt x="975048" y="23890"/>
                    <a:pt x="980286" y="36538"/>
                    <a:pt x="980286" y="49726"/>
                  </a:cubicBezTo>
                  <a:lnTo>
                    <a:pt x="980286" y="77759"/>
                  </a:lnTo>
                  <a:cubicBezTo>
                    <a:pt x="980286" y="105222"/>
                    <a:pt x="958024" y="127485"/>
                    <a:pt x="930561" y="127485"/>
                  </a:cubicBezTo>
                  <a:lnTo>
                    <a:pt x="49726" y="127485"/>
                  </a:lnTo>
                  <a:cubicBezTo>
                    <a:pt x="36538" y="127485"/>
                    <a:pt x="23890" y="122246"/>
                    <a:pt x="14564" y="112920"/>
                  </a:cubicBezTo>
                  <a:cubicBezTo>
                    <a:pt x="5239" y="103595"/>
                    <a:pt x="0" y="90947"/>
                    <a:pt x="0" y="77759"/>
                  </a:cubicBezTo>
                  <a:lnTo>
                    <a:pt x="0" y="49726"/>
                  </a:lnTo>
                  <a:cubicBezTo>
                    <a:pt x="0" y="36538"/>
                    <a:pt x="5239" y="23890"/>
                    <a:pt x="14564" y="14564"/>
                  </a:cubicBezTo>
                  <a:cubicBezTo>
                    <a:pt x="23890" y="5239"/>
                    <a:pt x="36538" y="0"/>
                    <a:pt x="49726" y="0"/>
                  </a:cubicBezTo>
                  <a:close/>
                </a:path>
              </a:pathLst>
            </a:custGeom>
            <a:solidFill>
              <a:srgbClr val="D52929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28575"/>
              <a:ext cx="980286" cy="156060"/>
            </a:xfrm>
            <a:prstGeom prst="rect">
              <a:avLst/>
            </a:prstGeom>
          </p:spPr>
          <p:txBody>
            <a:bodyPr lIns="57150" tIns="57150" rIns="57150" bIns="57150" rtlCol="0" anchor="ctr"/>
            <a:lstStyle/>
            <a:p>
              <a:pPr algn="ctr">
                <a:lnSpc>
                  <a:spcPts val="2205"/>
                </a:lnSpc>
              </a:pPr>
              <a:endParaRPr sz="2025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0613700" y="2329159"/>
            <a:ext cx="2815988" cy="22159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dirty="0">
                <a:latin typeface="system-ui"/>
              </a:rPr>
              <a:t>Multicuisine is the most common dish type, with a very high count compared to others.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>
                <a:latin typeface="system-ui"/>
              </a:rPr>
              <a:t>This shows that customers may favor diversity, making multicuisine options more popular.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665705" y="1782006"/>
            <a:ext cx="2400668" cy="853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33"/>
              </a:lnSpc>
            </a:pPr>
            <a:r>
              <a:rPr lang="en-IN" sz="1200" b="1" dirty="0">
                <a:solidFill>
                  <a:srgbClr val="FFFFFF"/>
                </a:solidFill>
                <a:latin typeface="Inter Bold" panose="020B0604020202020204" charset="0"/>
                <a:ea typeface="Inter Bold" panose="020B0604020202020204" charset="0"/>
              </a:rPr>
              <a:t>Insight</a:t>
            </a:r>
          </a:p>
          <a:p>
            <a:pPr algn="ctr">
              <a:lnSpc>
                <a:spcPts val="1733"/>
              </a:lnSpc>
            </a:pPr>
            <a:endParaRPr lang="en-US" sz="1200" b="1" spc="-25" dirty="0">
              <a:solidFill>
                <a:srgbClr val="FFF6F6"/>
              </a:solidFill>
              <a:latin typeface="Inter Bold"/>
              <a:ea typeface="Inter Bold"/>
              <a:cs typeface="Inter Bold"/>
              <a:sym typeface="Inter Bold"/>
            </a:endParaRPr>
          </a:p>
          <a:p>
            <a:pPr algn="ctr">
              <a:lnSpc>
                <a:spcPts val="1733"/>
              </a:lnSpc>
            </a:pPr>
            <a:endParaRPr lang="en-IN" sz="1238" b="1" dirty="0">
              <a:solidFill>
                <a:srgbClr val="FFFFFF"/>
              </a:solidFill>
              <a:latin typeface="Inter Bold" panose="020B0604020202020204" charset="0"/>
              <a:ea typeface="Inter Bold" panose="020B0604020202020204" charset="0"/>
            </a:endParaRPr>
          </a:p>
          <a:p>
            <a:pPr algn="ctr">
              <a:lnSpc>
                <a:spcPts val="1733"/>
              </a:lnSpc>
            </a:pPr>
            <a:endParaRPr lang="en-US" sz="1238" b="1" spc="-25" dirty="0">
              <a:solidFill>
                <a:srgbClr val="FFF6F6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7984F647-1A67-4D50-9683-4B22CA0C5A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893" y="1276018"/>
            <a:ext cx="9206204" cy="6538263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4777E946-43CD-4D64-BECC-9F2CFF881C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0996" y="7788423"/>
            <a:ext cx="2019404" cy="425472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5E75A7BC-4491-4444-81DA-B01BAAAB9E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3373" y="5429423"/>
            <a:ext cx="2196641" cy="177807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9488225" y="2093026"/>
            <a:ext cx="4711700" cy="1578864"/>
          </a:xfrm>
          <a:custGeom>
            <a:avLst/>
            <a:gdLst/>
            <a:ahLst/>
            <a:cxnLst/>
            <a:rect l="l" t="t" r="r" b="b"/>
            <a:pathLst>
              <a:path w="5889625" h="1973579">
                <a:moveTo>
                  <a:pt x="5403700" y="1973288"/>
                </a:moveTo>
                <a:lnTo>
                  <a:pt x="485775" y="1973288"/>
                </a:lnTo>
                <a:lnTo>
                  <a:pt x="437762" y="1970911"/>
                </a:lnTo>
                <a:lnTo>
                  <a:pt x="390562" y="1963868"/>
                </a:lnTo>
                <a:lnTo>
                  <a:pt x="344494" y="1952291"/>
                </a:lnTo>
                <a:lnTo>
                  <a:pt x="299877" y="1936311"/>
                </a:lnTo>
                <a:lnTo>
                  <a:pt x="257028" y="1916061"/>
                </a:lnTo>
                <a:lnTo>
                  <a:pt x="216266" y="1891672"/>
                </a:lnTo>
                <a:lnTo>
                  <a:pt x="177911" y="1863277"/>
                </a:lnTo>
                <a:lnTo>
                  <a:pt x="142280" y="1831008"/>
                </a:lnTo>
                <a:lnTo>
                  <a:pt x="110011" y="1795377"/>
                </a:lnTo>
                <a:lnTo>
                  <a:pt x="81616" y="1757021"/>
                </a:lnTo>
                <a:lnTo>
                  <a:pt x="57227" y="1716260"/>
                </a:lnTo>
                <a:lnTo>
                  <a:pt x="36977" y="1673411"/>
                </a:lnTo>
                <a:lnTo>
                  <a:pt x="20997" y="1628793"/>
                </a:lnTo>
                <a:lnTo>
                  <a:pt x="9420" y="1582726"/>
                </a:lnTo>
                <a:lnTo>
                  <a:pt x="2377" y="1535526"/>
                </a:lnTo>
                <a:lnTo>
                  <a:pt x="0" y="1487513"/>
                </a:lnTo>
                <a:lnTo>
                  <a:pt x="0" y="485775"/>
                </a:lnTo>
                <a:lnTo>
                  <a:pt x="2377" y="437762"/>
                </a:lnTo>
                <a:lnTo>
                  <a:pt x="9420" y="390562"/>
                </a:lnTo>
                <a:lnTo>
                  <a:pt x="20997" y="344494"/>
                </a:lnTo>
                <a:lnTo>
                  <a:pt x="36977" y="299876"/>
                </a:lnTo>
                <a:lnTo>
                  <a:pt x="57227" y="257028"/>
                </a:lnTo>
                <a:lnTo>
                  <a:pt x="81616" y="216266"/>
                </a:lnTo>
                <a:lnTo>
                  <a:pt x="110011" y="177911"/>
                </a:lnTo>
                <a:lnTo>
                  <a:pt x="142280" y="142280"/>
                </a:lnTo>
                <a:lnTo>
                  <a:pt x="177911" y="110010"/>
                </a:lnTo>
                <a:lnTo>
                  <a:pt x="216266" y="81615"/>
                </a:lnTo>
                <a:lnTo>
                  <a:pt x="257028" y="57227"/>
                </a:lnTo>
                <a:lnTo>
                  <a:pt x="299877" y="36977"/>
                </a:lnTo>
                <a:lnTo>
                  <a:pt x="344494" y="20997"/>
                </a:lnTo>
                <a:lnTo>
                  <a:pt x="390562" y="9420"/>
                </a:lnTo>
                <a:lnTo>
                  <a:pt x="437762" y="2377"/>
                </a:lnTo>
                <a:lnTo>
                  <a:pt x="485775" y="0"/>
                </a:lnTo>
                <a:lnTo>
                  <a:pt x="5403700" y="0"/>
                </a:lnTo>
                <a:lnTo>
                  <a:pt x="5451713" y="2377"/>
                </a:lnTo>
                <a:lnTo>
                  <a:pt x="5498913" y="9420"/>
                </a:lnTo>
                <a:lnTo>
                  <a:pt x="5544981" y="20997"/>
                </a:lnTo>
                <a:lnTo>
                  <a:pt x="5589599" y="36977"/>
                </a:lnTo>
                <a:lnTo>
                  <a:pt x="5632448" y="57227"/>
                </a:lnTo>
                <a:lnTo>
                  <a:pt x="5673209" y="81615"/>
                </a:lnTo>
                <a:lnTo>
                  <a:pt x="5711564" y="110010"/>
                </a:lnTo>
                <a:lnTo>
                  <a:pt x="5747196" y="142280"/>
                </a:lnTo>
                <a:lnTo>
                  <a:pt x="5779465" y="177911"/>
                </a:lnTo>
                <a:lnTo>
                  <a:pt x="5807859" y="216266"/>
                </a:lnTo>
                <a:lnTo>
                  <a:pt x="5832248" y="257028"/>
                </a:lnTo>
                <a:lnTo>
                  <a:pt x="5852498" y="299876"/>
                </a:lnTo>
                <a:lnTo>
                  <a:pt x="5868477" y="344494"/>
                </a:lnTo>
                <a:lnTo>
                  <a:pt x="5880055" y="390562"/>
                </a:lnTo>
                <a:lnTo>
                  <a:pt x="5887098" y="437762"/>
                </a:lnTo>
                <a:lnTo>
                  <a:pt x="5889033" y="476831"/>
                </a:lnTo>
                <a:lnTo>
                  <a:pt x="5889033" y="1496456"/>
                </a:lnTo>
                <a:lnTo>
                  <a:pt x="5887098" y="1535526"/>
                </a:lnTo>
                <a:lnTo>
                  <a:pt x="5880055" y="1582726"/>
                </a:lnTo>
                <a:lnTo>
                  <a:pt x="5868477" y="1628793"/>
                </a:lnTo>
                <a:lnTo>
                  <a:pt x="5852498" y="1673411"/>
                </a:lnTo>
                <a:lnTo>
                  <a:pt x="5832248" y="1716260"/>
                </a:lnTo>
                <a:lnTo>
                  <a:pt x="5807859" y="1757021"/>
                </a:lnTo>
                <a:lnTo>
                  <a:pt x="5779465" y="1795377"/>
                </a:lnTo>
                <a:lnTo>
                  <a:pt x="5747196" y="1831008"/>
                </a:lnTo>
                <a:lnTo>
                  <a:pt x="5711564" y="1863277"/>
                </a:lnTo>
                <a:lnTo>
                  <a:pt x="5673209" y="1891672"/>
                </a:lnTo>
                <a:lnTo>
                  <a:pt x="5632448" y="1916061"/>
                </a:lnTo>
                <a:lnTo>
                  <a:pt x="5589599" y="1936311"/>
                </a:lnTo>
                <a:lnTo>
                  <a:pt x="5544981" y="1952291"/>
                </a:lnTo>
                <a:lnTo>
                  <a:pt x="5498913" y="1963868"/>
                </a:lnTo>
                <a:lnTo>
                  <a:pt x="5451713" y="1970911"/>
                </a:lnTo>
                <a:lnTo>
                  <a:pt x="5403700" y="1973288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 lIns="0" tIns="0" rIns="0" bIns="0" rtlCol="0"/>
          <a:lstStyle/>
          <a:p>
            <a:endParaRPr sz="1440" dirty="0"/>
          </a:p>
        </p:txBody>
      </p:sp>
      <p:sp>
        <p:nvSpPr>
          <p:cNvPr id="10" name="object 10"/>
          <p:cNvSpPr txBox="1"/>
          <p:nvPr/>
        </p:nvSpPr>
        <p:spPr>
          <a:xfrm>
            <a:off x="9663231" y="1474908"/>
            <a:ext cx="4361688" cy="618118"/>
          </a:xfrm>
          <a:prstGeom prst="rect">
            <a:avLst/>
          </a:prstGeom>
        </p:spPr>
        <p:txBody>
          <a:bodyPr vert="horz" wrap="square" lIns="0" tIns="209804" rIns="0" bIns="0" rtlCol="0">
            <a:spAutoFit/>
          </a:bodyPr>
          <a:lstStyle/>
          <a:p>
            <a:pPr marL="10160">
              <a:spcBef>
                <a:spcPts val="1652"/>
              </a:spcBef>
            </a:pPr>
            <a:r>
              <a:rPr sz="2640" spc="-68" dirty="0">
                <a:solidFill>
                  <a:schemeClr val="accent6">
                    <a:lumMod val="50000"/>
                  </a:schemeClr>
                </a:solidFill>
                <a:latin typeface="Arial Black"/>
                <a:cs typeface="Arial Black"/>
              </a:rPr>
              <a:t>Insight</a:t>
            </a:r>
            <a:r>
              <a:rPr sz="2640" spc="-68" dirty="0">
                <a:solidFill>
                  <a:srgbClr val="3369BD"/>
                </a:solidFill>
                <a:latin typeface="Arial Black"/>
                <a:cs typeface="Arial Black"/>
              </a:rPr>
              <a:t>:</a:t>
            </a:r>
            <a:endParaRPr sz="2640" dirty="0">
              <a:latin typeface="Arial Black"/>
              <a:cs typeface="Arial Black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9996E28-25DC-4E5E-A170-9CD5A1B095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822" y="1482811"/>
            <a:ext cx="7181416" cy="574589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A0FF8D6-F525-4684-BE00-1F791BEC5138}"/>
              </a:ext>
            </a:extLst>
          </p:cNvPr>
          <p:cNvSpPr txBox="1"/>
          <p:nvPr/>
        </p:nvSpPr>
        <p:spPr>
          <a:xfrm>
            <a:off x="9734658" y="2194562"/>
            <a:ext cx="421883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Most restaurants have ratings between </a:t>
            </a:r>
            <a:r>
              <a:rPr lang="en-US" b="1" dirty="0"/>
              <a:t>3.5 and 5</a:t>
            </a:r>
            <a:r>
              <a:rPr lang="en-US" dirty="0"/>
              <a:t>, but the— people spend more money people spend doesn’t depend on the rating or less even if the rating is the same</a:t>
            </a:r>
            <a:endParaRPr lang="en-IN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A437937-E7A3-4DEE-9384-7AF2ED1811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3244" y="3773426"/>
            <a:ext cx="3434118" cy="343411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53EBE7E-F52E-4EAF-A07A-74DBAC87CB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55479" y="7590207"/>
            <a:ext cx="2019404" cy="425472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E9B233C7-FA27-44A6-BD83-579E4C8D08F2}"/>
              </a:ext>
            </a:extLst>
          </p:cNvPr>
          <p:cNvSpPr txBox="1"/>
          <p:nvPr/>
        </p:nvSpPr>
        <p:spPr>
          <a:xfrm>
            <a:off x="741405" y="212830"/>
            <a:ext cx="13283514" cy="100089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2F264CE-8098-4933-8DEF-1328D91F3743}"/>
              </a:ext>
            </a:extLst>
          </p:cNvPr>
          <p:cNvSpPr txBox="1"/>
          <p:nvPr/>
        </p:nvSpPr>
        <p:spPr>
          <a:xfrm>
            <a:off x="1576371" y="412598"/>
            <a:ext cx="108791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dirty="0">
                <a:latin typeface="Arial Black" panose="020B0A04020102020204" pitchFamily="34" charset="0"/>
              </a:rPr>
              <a:t>AMOUNT VS RATING</a:t>
            </a:r>
          </a:p>
        </p:txBody>
      </p:sp>
    </p:spTree>
    <p:extLst>
      <p:ext uri="{BB962C8B-B14F-4D97-AF65-F5344CB8AC3E}">
        <p14:creationId xmlns:p14="http://schemas.microsoft.com/office/powerpoint/2010/main" val="10252975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9475745" y="2116118"/>
            <a:ext cx="4711700" cy="1578864"/>
          </a:xfrm>
          <a:custGeom>
            <a:avLst/>
            <a:gdLst/>
            <a:ahLst/>
            <a:cxnLst/>
            <a:rect l="l" t="t" r="r" b="b"/>
            <a:pathLst>
              <a:path w="5889625" h="1973579">
                <a:moveTo>
                  <a:pt x="5403700" y="1973288"/>
                </a:moveTo>
                <a:lnTo>
                  <a:pt x="485775" y="1973288"/>
                </a:lnTo>
                <a:lnTo>
                  <a:pt x="437762" y="1970911"/>
                </a:lnTo>
                <a:lnTo>
                  <a:pt x="390562" y="1963868"/>
                </a:lnTo>
                <a:lnTo>
                  <a:pt x="344494" y="1952291"/>
                </a:lnTo>
                <a:lnTo>
                  <a:pt x="299877" y="1936311"/>
                </a:lnTo>
                <a:lnTo>
                  <a:pt x="257028" y="1916061"/>
                </a:lnTo>
                <a:lnTo>
                  <a:pt x="216266" y="1891672"/>
                </a:lnTo>
                <a:lnTo>
                  <a:pt x="177911" y="1863277"/>
                </a:lnTo>
                <a:lnTo>
                  <a:pt x="142280" y="1831008"/>
                </a:lnTo>
                <a:lnTo>
                  <a:pt x="110011" y="1795377"/>
                </a:lnTo>
                <a:lnTo>
                  <a:pt x="81616" y="1757021"/>
                </a:lnTo>
                <a:lnTo>
                  <a:pt x="57227" y="1716260"/>
                </a:lnTo>
                <a:lnTo>
                  <a:pt x="36977" y="1673411"/>
                </a:lnTo>
                <a:lnTo>
                  <a:pt x="20997" y="1628793"/>
                </a:lnTo>
                <a:lnTo>
                  <a:pt x="9420" y="1582726"/>
                </a:lnTo>
                <a:lnTo>
                  <a:pt x="2377" y="1535526"/>
                </a:lnTo>
                <a:lnTo>
                  <a:pt x="0" y="1487513"/>
                </a:lnTo>
                <a:lnTo>
                  <a:pt x="0" y="485775"/>
                </a:lnTo>
                <a:lnTo>
                  <a:pt x="2377" y="437762"/>
                </a:lnTo>
                <a:lnTo>
                  <a:pt x="9420" y="390562"/>
                </a:lnTo>
                <a:lnTo>
                  <a:pt x="20997" y="344494"/>
                </a:lnTo>
                <a:lnTo>
                  <a:pt x="36977" y="299876"/>
                </a:lnTo>
                <a:lnTo>
                  <a:pt x="57227" y="257028"/>
                </a:lnTo>
                <a:lnTo>
                  <a:pt x="81616" y="216266"/>
                </a:lnTo>
                <a:lnTo>
                  <a:pt x="110011" y="177911"/>
                </a:lnTo>
                <a:lnTo>
                  <a:pt x="142280" y="142280"/>
                </a:lnTo>
                <a:lnTo>
                  <a:pt x="177911" y="110010"/>
                </a:lnTo>
                <a:lnTo>
                  <a:pt x="216266" y="81615"/>
                </a:lnTo>
                <a:lnTo>
                  <a:pt x="257028" y="57227"/>
                </a:lnTo>
                <a:lnTo>
                  <a:pt x="299877" y="36977"/>
                </a:lnTo>
                <a:lnTo>
                  <a:pt x="344494" y="20997"/>
                </a:lnTo>
                <a:lnTo>
                  <a:pt x="390562" y="9420"/>
                </a:lnTo>
                <a:lnTo>
                  <a:pt x="437762" y="2377"/>
                </a:lnTo>
                <a:lnTo>
                  <a:pt x="485775" y="0"/>
                </a:lnTo>
                <a:lnTo>
                  <a:pt x="5403700" y="0"/>
                </a:lnTo>
                <a:lnTo>
                  <a:pt x="5451713" y="2377"/>
                </a:lnTo>
                <a:lnTo>
                  <a:pt x="5498913" y="9420"/>
                </a:lnTo>
                <a:lnTo>
                  <a:pt x="5544981" y="20997"/>
                </a:lnTo>
                <a:lnTo>
                  <a:pt x="5589599" y="36977"/>
                </a:lnTo>
                <a:lnTo>
                  <a:pt x="5632448" y="57227"/>
                </a:lnTo>
                <a:lnTo>
                  <a:pt x="5673209" y="81615"/>
                </a:lnTo>
                <a:lnTo>
                  <a:pt x="5711564" y="110010"/>
                </a:lnTo>
                <a:lnTo>
                  <a:pt x="5747196" y="142280"/>
                </a:lnTo>
                <a:lnTo>
                  <a:pt x="5779465" y="177911"/>
                </a:lnTo>
                <a:lnTo>
                  <a:pt x="5807859" y="216266"/>
                </a:lnTo>
                <a:lnTo>
                  <a:pt x="5832248" y="257028"/>
                </a:lnTo>
                <a:lnTo>
                  <a:pt x="5852498" y="299876"/>
                </a:lnTo>
                <a:lnTo>
                  <a:pt x="5868477" y="344494"/>
                </a:lnTo>
                <a:lnTo>
                  <a:pt x="5880055" y="390562"/>
                </a:lnTo>
                <a:lnTo>
                  <a:pt x="5887098" y="437762"/>
                </a:lnTo>
                <a:lnTo>
                  <a:pt x="5889033" y="476831"/>
                </a:lnTo>
                <a:lnTo>
                  <a:pt x="5889033" y="1496456"/>
                </a:lnTo>
                <a:lnTo>
                  <a:pt x="5887098" y="1535526"/>
                </a:lnTo>
                <a:lnTo>
                  <a:pt x="5880055" y="1582726"/>
                </a:lnTo>
                <a:lnTo>
                  <a:pt x="5868477" y="1628793"/>
                </a:lnTo>
                <a:lnTo>
                  <a:pt x="5852498" y="1673411"/>
                </a:lnTo>
                <a:lnTo>
                  <a:pt x="5832248" y="1716260"/>
                </a:lnTo>
                <a:lnTo>
                  <a:pt x="5807859" y="1757021"/>
                </a:lnTo>
                <a:lnTo>
                  <a:pt x="5779465" y="1795377"/>
                </a:lnTo>
                <a:lnTo>
                  <a:pt x="5747196" y="1831008"/>
                </a:lnTo>
                <a:lnTo>
                  <a:pt x="5711564" y="1863277"/>
                </a:lnTo>
                <a:lnTo>
                  <a:pt x="5673209" y="1891672"/>
                </a:lnTo>
                <a:lnTo>
                  <a:pt x="5632448" y="1916061"/>
                </a:lnTo>
                <a:lnTo>
                  <a:pt x="5589599" y="1936311"/>
                </a:lnTo>
                <a:lnTo>
                  <a:pt x="5544981" y="1952291"/>
                </a:lnTo>
                <a:lnTo>
                  <a:pt x="5498913" y="1963868"/>
                </a:lnTo>
                <a:lnTo>
                  <a:pt x="5451713" y="1970911"/>
                </a:lnTo>
                <a:lnTo>
                  <a:pt x="5403700" y="1973288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 lIns="0" tIns="0" rIns="0" bIns="0" rtlCol="0"/>
          <a:lstStyle/>
          <a:p>
            <a:endParaRPr sz="1440"/>
          </a:p>
        </p:txBody>
      </p:sp>
      <p:sp>
        <p:nvSpPr>
          <p:cNvPr id="10" name="object 10"/>
          <p:cNvSpPr txBox="1"/>
          <p:nvPr/>
        </p:nvSpPr>
        <p:spPr>
          <a:xfrm>
            <a:off x="9806086" y="1468619"/>
            <a:ext cx="4361688" cy="618118"/>
          </a:xfrm>
          <a:prstGeom prst="rect">
            <a:avLst/>
          </a:prstGeom>
        </p:spPr>
        <p:txBody>
          <a:bodyPr vert="horz" wrap="square" lIns="0" tIns="209804" rIns="0" bIns="0" rtlCol="0">
            <a:spAutoFit/>
          </a:bodyPr>
          <a:lstStyle/>
          <a:p>
            <a:pPr marL="10160">
              <a:spcBef>
                <a:spcPts val="1652"/>
              </a:spcBef>
            </a:pPr>
            <a:r>
              <a:rPr sz="2640" spc="-68" dirty="0">
                <a:solidFill>
                  <a:schemeClr val="accent6">
                    <a:lumMod val="50000"/>
                  </a:schemeClr>
                </a:solidFill>
                <a:latin typeface="Arial Black"/>
                <a:cs typeface="Arial Black"/>
              </a:rPr>
              <a:t>Insight</a:t>
            </a:r>
            <a:r>
              <a:rPr sz="2640" spc="-68" dirty="0">
                <a:solidFill>
                  <a:srgbClr val="3369BD"/>
                </a:solidFill>
                <a:latin typeface="Arial Black"/>
                <a:cs typeface="Arial Black"/>
              </a:rPr>
              <a:t>:</a:t>
            </a:r>
            <a:endParaRPr sz="2640" dirty="0">
              <a:latin typeface="Arial Black"/>
              <a:cs typeface="Arial Black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0FF8D6-F525-4684-BE00-1F791BEC5138}"/>
              </a:ext>
            </a:extLst>
          </p:cNvPr>
          <p:cNvSpPr txBox="1"/>
          <p:nvPr/>
        </p:nvSpPr>
        <p:spPr>
          <a:xfrm>
            <a:off x="9645449" y="2290695"/>
            <a:ext cx="41932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Patna</a:t>
            </a:r>
            <a:r>
              <a:rPr lang="en-US" dirty="0"/>
              <a:t> has the </a:t>
            </a:r>
            <a:r>
              <a:rPr lang="en-US" b="1" dirty="0"/>
              <a:t>highest number of popular dishes</a:t>
            </a:r>
            <a:r>
              <a:rPr lang="en-US" dirty="0"/>
              <a:t>, and </a:t>
            </a:r>
            <a:r>
              <a:rPr lang="en-US" b="1" dirty="0"/>
              <a:t>North Indian</a:t>
            </a:r>
            <a:r>
              <a:rPr lang="en-US" dirty="0"/>
              <a:t> and </a:t>
            </a:r>
            <a:r>
              <a:rPr lang="en-US" b="1" dirty="0"/>
              <a:t>Multicuisine</a:t>
            </a:r>
            <a:r>
              <a:rPr lang="en-US" dirty="0"/>
              <a:t> dishes are liked the most in all cities.</a:t>
            </a:r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CF868B8-83D0-4672-BE77-696C9DA9F0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55479" y="7590207"/>
            <a:ext cx="2019404" cy="42547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4EBDEFF-9B66-4DCA-915F-9245494BBB1F}"/>
              </a:ext>
            </a:extLst>
          </p:cNvPr>
          <p:cNvSpPr txBox="1"/>
          <p:nvPr/>
        </p:nvSpPr>
        <p:spPr>
          <a:xfrm>
            <a:off x="506627" y="337771"/>
            <a:ext cx="13814853" cy="100089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992D41-0202-46E4-85CF-29D78A976996}"/>
              </a:ext>
            </a:extLst>
          </p:cNvPr>
          <p:cNvSpPr txBox="1"/>
          <p:nvPr/>
        </p:nvSpPr>
        <p:spPr>
          <a:xfrm>
            <a:off x="596822" y="462117"/>
            <a:ext cx="135906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Arial Black" panose="020B0A04020102020204" pitchFamily="34" charset="0"/>
              </a:rPr>
              <a:t>T</a:t>
            </a:r>
            <a:r>
              <a:rPr lang="en-IN" sz="4000" dirty="0">
                <a:latin typeface="Arial Black" panose="020B0A04020102020204" pitchFamily="34" charset="0"/>
              </a:rPr>
              <a:t>OP 5 DISHES EACH WITH LOCATIONS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C1D815D-E348-4E01-BDB8-82730DD140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1245" y="3869559"/>
            <a:ext cx="3860800" cy="38608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CB7BBFA-92A9-4C32-9D6D-578671D14B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720" y="2183540"/>
            <a:ext cx="7704580" cy="5314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1296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DCF868B8-83D0-4672-BE77-696C9DA9F0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55479" y="7590207"/>
            <a:ext cx="2019404" cy="42547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4EBDEFF-9B66-4DCA-915F-9245494BBB1F}"/>
              </a:ext>
            </a:extLst>
          </p:cNvPr>
          <p:cNvSpPr txBox="1"/>
          <p:nvPr/>
        </p:nvSpPr>
        <p:spPr>
          <a:xfrm>
            <a:off x="506627" y="337771"/>
            <a:ext cx="13814853" cy="100089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992D41-0202-46E4-85CF-29D78A976996}"/>
              </a:ext>
            </a:extLst>
          </p:cNvPr>
          <p:cNvSpPr txBox="1"/>
          <p:nvPr/>
        </p:nvSpPr>
        <p:spPr>
          <a:xfrm>
            <a:off x="596822" y="462117"/>
            <a:ext cx="135906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Arial Black" panose="020B0A04020102020204" pitchFamily="34" charset="0"/>
              </a:rPr>
              <a:t>T</a:t>
            </a:r>
            <a:r>
              <a:rPr lang="en-IN" sz="4000" dirty="0">
                <a:latin typeface="Arial Black" panose="020B0A04020102020204" pitchFamily="34" charset="0"/>
              </a:rPr>
              <a:t>OP 5 DISHES EACH WITH LOCATIONS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567F4FD-37C4-4E5A-BCC4-7DCBA81609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412" y="1875574"/>
            <a:ext cx="7480788" cy="5617426"/>
          </a:xfrm>
          <a:prstGeom prst="rect">
            <a:avLst/>
          </a:prstGeom>
        </p:spPr>
      </p:pic>
      <p:pic>
        <p:nvPicPr>
          <p:cNvPr id="14" name="object 8">
            <a:extLst>
              <a:ext uri="{FF2B5EF4-FFF2-40B4-BE49-F238E27FC236}">
                <a16:creationId xmlns:a16="http://schemas.microsoft.com/office/drawing/2014/main" id="{8D70942B-C272-4DCD-946F-5475A9F1347A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348659" y="2322289"/>
            <a:ext cx="251459" cy="281939"/>
          </a:xfrm>
          <a:prstGeom prst="rect">
            <a:avLst/>
          </a:prstGeom>
        </p:spPr>
      </p:pic>
      <p:pic>
        <p:nvPicPr>
          <p:cNvPr id="18" name="object 8">
            <a:extLst>
              <a:ext uri="{FF2B5EF4-FFF2-40B4-BE49-F238E27FC236}">
                <a16:creationId xmlns:a16="http://schemas.microsoft.com/office/drawing/2014/main" id="{082A258D-3690-41FD-BAC5-A083F0B72C60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336147" y="3295550"/>
            <a:ext cx="251459" cy="281939"/>
          </a:xfrm>
          <a:prstGeom prst="rect">
            <a:avLst/>
          </a:prstGeom>
        </p:spPr>
      </p:pic>
      <p:pic>
        <p:nvPicPr>
          <p:cNvPr id="20" name="object 8">
            <a:extLst>
              <a:ext uri="{FF2B5EF4-FFF2-40B4-BE49-F238E27FC236}">
                <a16:creationId xmlns:a16="http://schemas.microsoft.com/office/drawing/2014/main" id="{E46107F9-FC86-4202-900F-0703B883A538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375327" y="4182498"/>
            <a:ext cx="251459" cy="281939"/>
          </a:xfrm>
          <a:prstGeom prst="rect">
            <a:avLst/>
          </a:prstGeom>
        </p:spPr>
      </p:pic>
      <p:pic>
        <p:nvPicPr>
          <p:cNvPr id="21" name="object 8">
            <a:extLst>
              <a:ext uri="{FF2B5EF4-FFF2-40B4-BE49-F238E27FC236}">
                <a16:creationId xmlns:a16="http://schemas.microsoft.com/office/drawing/2014/main" id="{8EB68F6E-DA81-4D1A-84B2-2023BBF46DC9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336523" y="4934048"/>
            <a:ext cx="251459" cy="281939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FFF6ED9-8CBC-42E6-B4F4-AD48CF571889}"/>
              </a:ext>
            </a:extLst>
          </p:cNvPr>
          <p:cNvSpPr txBox="1"/>
          <p:nvPr/>
        </p:nvSpPr>
        <p:spPr>
          <a:xfrm>
            <a:off x="9791700" y="2249061"/>
            <a:ext cx="4127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Higher order amounts → higher final bills</a:t>
            </a:r>
            <a:r>
              <a:rPr lang="en-US" dirty="0"/>
              <a:t> (strong positive correlation 0.81).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00DC56-F7DD-4A78-8D16-49C70C8CAABA}"/>
              </a:ext>
            </a:extLst>
          </p:cNvPr>
          <p:cNvSpPr txBox="1"/>
          <p:nvPr/>
        </p:nvSpPr>
        <p:spPr>
          <a:xfrm>
            <a:off x="9791700" y="3173189"/>
            <a:ext cx="4127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Restaurant discounts and discount values</a:t>
            </a:r>
            <a:r>
              <a:rPr lang="en-US" dirty="0"/>
              <a:t> are strongly related (0.70).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E60C0A-3706-4F90-B6E4-B6530BD97AF7}"/>
              </a:ext>
            </a:extLst>
          </p:cNvPr>
          <p:cNvSpPr txBox="1"/>
          <p:nvPr/>
        </p:nvSpPr>
        <p:spPr>
          <a:xfrm>
            <a:off x="9791700" y="4024089"/>
            <a:ext cx="4229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Higher discounts reduce the final bill</a:t>
            </a:r>
            <a:r>
              <a:rPr lang="en-US" dirty="0"/>
              <a:t> (negative correlation -0.50).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A956CE-CB4E-4CFB-BC49-3838B02E8BE3}"/>
              </a:ext>
            </a:extLst>
          </p:cNvPr>
          <p:cNvSpPr txBox="1"/>
          <p:nvPr/>
        </p:nvSpPr>
        <p:spPr>
          <a:xfrm>
            <a:off x="9791700" y="4891849"/>
            <a:ext cx="39268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Location affects spending patterns</a:t>
            </a:r>
            <a:r>
              <a:rPr lang="en-US" dirty="0"/>
              <a:t>, as some areas show lower spending (-0.29).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55874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7710" y="856722"/>
            <a:ext cx="12924724" cy="722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650"/>
              </a:lnSpc>
              <a:buNone/>
            </a:pPr>
            <a:r>
              <a:rPr lang="en-US" sz="4500" dirty="0">
                <a:solidFill>
                  <a:srgbClr val="030303"/>
                </a:solidFill>
                <a:latin typeface="Arial Black" panose="020B0A04020102020204" pitchFamily="34" charset="0"/>
                <a:ea typeface="DM Sans Semi Bold" pitchFamily="34" charset="-122"/>
                <a:cs typeface="DM Sans Semi Bold" pitchFamily="34" charset="-120"/>
              </a:rPr>
              <a:t>Overall Takeaways</a:t>
            </a:r>
            <a:endParaRPr lang="en-US" sz="4500" dirty="0">
              <a:latin typeface="Arial Black" panose="020B0A040201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97711" y="2752845"/>
            <a:ext cx="6291013" cy="1383956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7317" y="2760729"/>
            <a:ext cx="45719" cy="1354071"/>
          </a:xfrm>
          <a:prstGeom prst="roundRect">
            <a:avLst>
              <a:gd name="adj" fmla="val 28435"/>
            </a:avLst>
          </a:prstGeom>
          <a:solidFill>
            <a:srgbClr val="1C9770"/>
          </a:solidFill>
          <a:ln/>
        </p:spPr>
      </p:sp>
      <p:sp>
        <p:nvSpPr>
          <p:cNvPr id="6" name="Text 4"/>
          <p:cNvSpPr/>
          <p:nvPr/>
        </p:nvSpPr>
        <p:spPr>
          <a:xfrm>
            <a:off x="737711" y="2903100"/>
            <a:ext cx="2461022" cy="180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Cuisine &amp; Dish Popularity is City-Specific</a:t>
            </a:r>
            <a:endParaRPr lang="en-US" b="1" dirty="0"/>
          </a:p>
        </p:txBody>
      </p:sp>
      <p:sp>
        <p:nvSpPr>
          <p:cNvPr id="7" name="Text 5"/>
          <p:cNvSpPr/>
          <p:nvPr/>
        </p:nvSpPr>
        <p:spPr>
          <a:xfrm>
            <a:off x="845243" y="3274660"/>
            <a:ext cx="5740752" cy="55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lvl="2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Inter Medium" panose="020B0604020202020204" charset="0"/>
                <a:ea typeface="Inter Medium" panose="020B0604020202020204" charset="0"/>
                <a:cs typeface="Lato" panose="020F0502020204030203" pitchFamily="34" charset="0"/>
              </a:rPr>
              <a:t>This helps understand regional food preferences for restaurant owners or food delivery startups.</a:t>
            </a:r>
          </a:p>
        </p:txBody>
      </p:sp>
      <p:sp>
        <p:nvSpPr>
          <p:cNvPr id="8" name="Shape 6"/>
          <p:cNvSpPr/>
          <p:nvPr/>
        </p:nvSpPr>
        <p:spPr>
          <a:xfrm>
            <a:off x="7650866" y="2681548"/>
            <a:ext cx="5771568" cy="1332155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02912" y="2692109"/>
            <a:ext cx="58774" cy="1321594"/>
          </a:xfrm>
          <a:prstGeom prst="roundRect">
            <a:avLst>
              <a:gd name="adj" fmla="val 28435"/>
            </a:avLst>
          </a:prstGeom>
          <a:solidFill>
            <a:srgbClr val="1C9770"/>
          </a:solidFill>
          <a:ln/>
        </p:spPr>
      </p:sp>
      <p:sp>
        <p:nvSpPr>
          <p:cNvPr id="10" name="Text 8"/>
          <p:cNvSpPr/>
          <p:nvPr/>
        </p:nvSpPr>
        <p:spPr>
          <a:xfrm>
            <a:off x="7929102" y="2877076"/>
            <a:ext cx="2712958" cy="180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Restaurant Pricing Varies Significantly Across Cities</a:t>
            </a:r>
            <a:endParaRPr lang="en-US" b="1" dirty="0"/>
          </a:p>
        </p:txBody>
      </p:sp>
      <p:sp>
        <p:nvSpPr>
          <p:cNvPr id="11" name="Text 9"/>
          <p:cNvSpPr/>
          <p:nvPr/>
        </p:nvSpPr>
        <p:spPr>
          <a:xfrm>
            <a:off x="8030742" y="3167467"/>
            <a:ext cx="4077772" cy="55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Inter Medium" panose="020B0604020202020204" charset="0"/>
                <a:ea typeface="Inter Medium" panose="020B0604020202020204" charset="0"/>
                <a:cs typeface="Lato" panose="020F0502020204030203" pitchFamily="34" charset="0"/>
              </a:rPr>
              <a:t>Indicates economic tier difference and spending behavior across metros.</a:t>
            </a:r>
          </a:p>
        </p:txBody>
      </p:sp>
      <p:sp>
        <p:nvSpPr>
          <p:cNvPr id="16" name="Shape 14"/>
          <p:cNvSpPr/>
          <p:nvPr/>
        </p:nvSpPr>
        <p:spPr>
          <a:xfrm>
            <a:off x="443818" y="4410701"/>
            <a:ext cx="6344906" cy="1383957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7" name="Shape 15"/>
          <p:cNvSpPr/>
          <p:nvPr/>
        </p:nvSpPr>
        <p:spPr>
          <a:xfrm flipH="1">
            <a:off x="622221" y="4441186"/>
            <a:ext cx="45719" cy="1280538"/>
          </a:xfrm>
          <a:prstGeom prst="roundRect">
            <a:avLst>
              <a:gd name="adj" fmla="val 28435"/>
            </a:avLst>
          </a:prstGeom>
          <a:solidFill>
            <a:srgbClr val="1C9770"/>
          </a:solidFill>
          <a:ln/>
        </p:spPr>
      </p:sp>
      <p:sp>
        <p:nvSpPr>
          <p:cNvPr id="18" name="Text 16"/>
          <p:cNvSpPr/>
          <p:nvPr/>
        </p:nvSpPr>
        <p:spPr>
          <a:xfrm>
            <a:off x="913479" y="4646144"/>
            <a:ext cx="2722840" cy="180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Top-Rated Restaurants Are Clustering in Certain Areas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964437" y="5031938"/>
            <a:ext cx="5343765" cy="55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Inter Medium" panose="020B0604020202020204" charset="0"/>
                <a:ea typeface="Inter Medium" panose="020B0604020202020204" charset="0"/>
                <a:cs typeface="Lato" panose="020F0502020204030203" pitchFamily="34" charset="0"/>
              </a:rPr>
              <a:t>Useful for real estate selection, franchise investment, or launching a new food venture.</a:t>
            </a:r>
          </a:p>
        </p:txBody>
      </p:sp>
      <p:sp>
        <p:nvSpPr>
          <p:cNvPr id="20" name="Shape 18"/>
          <p:cNvSpPr/>
          <p:nvPr/>
        </p:nvSpPr>
        <p:spPr>
          <a:xfrm>
            <a:off x="7650866" y="4366260"/>
            <a:ext cx="5771568" cy="129045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17945" y="4366260"/>
            <a:ext cx="45719" cy="1290457"/>
          </a:xfrm>
          <a:prstGeom prst="roundRect">
            <a:avLst>
              <a:gd name="adj" fmla="val 28435"/>
            </a:avLst>
          </a:prstGeom>
          <a:solidFill>
            <a:srgbClr val="1C9770"/>
          </a:solidFill>
          <a:ln/>
        </p:spPr>
      </p:sp>
      <p:sp>
        <p:nvSpPr>
          <p:cNvPr id="22" name="Text 20"/>
          <p:cNvSpPr/>
          <p:nvPr/>
        </p:nvSpPr>
        <p:spPr>
          <a:xfrm>
            <a:off x="8044793" y="4547830"/>
            <a:ext cx="2336540" cy="180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Data-Driven City Guides Can Be Created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8030742" y="4826643"/>
            <a:ext cx="4864033" cy="682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Inter Medium" panose="020B0604020202020204" charset="0"/>
                <a:ea typeface="Inter Medium" panose="020B0604020202020204" charset="0"/>
                <a:cs typeface="Lato" panose="020F0502020204030203" pitchFamily="34" charset="0"/>
              </a:rPr>
              <a:t>The insights can power data-backed food guides, showing: Best-rated dishes, Most affordable locations, Cuisine trends city-wise.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52E861B-97CE-4253-9C20-E6A4205B1FDE}"/>
              </a:ext>
            </a:extLst>
          </p:cNvPr>
          <p:cNvSpPr/>
          <p:nvPr/>
        </p:nvSpPr>
        <p:spPr>
          <a:xfrm>
            <a:off x="12801600" y="7743463"/>
            <a:ext cx="1736203" cy="48613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112BB873-0BEC-41C1-89EE-AFB6BAE634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18399" y="7530727"/>
            <a:ext cx="2019404" cy="42547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C93D728-3375-47BE-A8A7-96CB8F7A4D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4334" y="3492254"/>
            <a:ext cx="1897863" cy="189786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997201" y="2959100"/>
            <a:ext cx="8610600" cy="2311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9600" dirty="0">
                <a:latin typeface="Algerian" panose="04020705040A02060702" pitchFamily="82" charset="0"/>
              </a:rPr>
              <a:t>THANK</a:t>
            </a:r>
          </a:p>
          <a:p>
            <a:pPr marL="0" indent="0" algn="ctr">
              <a:lnSpc>
                <a:spcPts val="5550"/>
              </a:lnSpc>
              <a:buNone/>
            </a:pPr>
            <a:r>
              <a:rPr lang="en-US" sz="9600" dirty="0">
                <a:latin typeface="Algerian" panose="04020705040A02060702" pitchFamily="82" charset="0"/>
              </a:rPr>
              <a:t> </a:t>
            </a:r>
          </a:p>
          <a:p>
            <a:pPr marL="0" indent="0" algn="ctr">
              <a:lnSpc>
                <a:spcPts val="5550"/>
              </a:lnSpc>
              <a:buNone/>
            </a:pPr>
            <a:r>
              <a:rPr lang="en-US" sz="9600" dirty="0">
                <a:latin typeface="Algerian" panose="04020705040A02060702" pitchFamily="82" charset="0"/>
              </a:rPr>
              <a:t>YOU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AEECFF-6E7A-43E2-A692-CE5DA24DD2EF}"/>
              </a:ext>
            </a:extLst>
          </p:cNvPr>
          <p:cNvSpPr/>
          <p:nvPr/>
        </p:nvSpPr>
        <p:spPr>
          <a:xfrm>
            <a:off x="12824749" y="7361499"/>
            <a:ext cx="1713054" cy="77550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11FE1D0-FDF1-4CCE-8C3C-1FF27200CD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55479" y="7590207"/>
            <a:ext cx="2019404" cy="425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2373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1688</TotalTime>
  <Words>587</Words>
  <Application>Microsoft Office PowerPoint</Application>
  <PresentationFormat>Custom</PresentationFormat>
  <Paragraphs>103</Paragraphs>
  <Slides>16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30" baseType="lpstr">
      <vt:lpstr>Algerian</vt:lpstr>
      <vt:lpstr>Arial</vt:lpstr>
      <vt:lpstr>Arial Black</vt:lpstr>
      <vt:lpstr>Calibri</vt:lpstr>
      <vt:lpstr>Canva Sans</vt:lpstr>
      <vt:lpstr>DM Sans Bold</vt:lpstr>
      <vt:lpstr>Inter</vt:lpstr>
      <vt:lpstr>Inter Bold</vt:lpstr>
      <vt:lpstr>Inter Medium</vt:lpstr>
      <vt:lpstr>Lato</vt:lpstr>
      <vt:lpstr>system-ui</vt:lpstr>
      <vt:lpstr>Trebuchet MS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DELL</dc:creator>
  <cp:lastModifiedBy>komal galave</cp:lastModifiedBy>
  <cp:revision>18</cp:revision>
  <dcterms:created xsi:type="dcterms:W3CDTF">2025-10-31T09:39:19Z</dcterms:created>
  <dcterms:modified xsi:type="dcterms:W3CDTF">2025-11-21T10:40:08Z</dcterms:modified>
</cp:coreProperties>
</file>